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840480" y="-1097280"/>
            <a:ext cx="5943600" cy="5943600"/>
          </a:xfrm>
          <a:prstGeom prst="ellipse">
            <a:avLst/>
          </a:prstGeom>
          <a:solidFill>
            <a:srgbClr val="1E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0" y="-457200"/>
            <a:ext cx="4114800" cy="4114800"/>
          </a:xfrm>
          <a:prstGeom prst="ellipse">
            <a:avLst/>
          </a:prstGeom>
          <a:solidFill>
            <a:srgbClr val="2632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2920" y="5989320"/>
            <a:ext cx="201168" cy="201168"/>
          </a:xfrm>
          <a:prstGeom prst="ellipse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5989320"/>
            <a:ext cx="201168" cy="201168"/>
          </a:xfrm>
          <a:prstGeom prst="ellipse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53896" y="5989320"/>
            <a:ext cx="201168" cy="201168"/>
          </a:xfrm>
          <a:prstGeom prst="ellipse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29384" y="5989320"/>
            <a:ext cx="201168" cy="201168"/>
          </a:xfrm>
          <a:prstGeom prst="ellipse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04872" y="5989320"/>
            <a:ext cx="201168" cy="201168"/>
          </a:xfrm>
          <a:prstGeom prst="ellipse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80360" y="5989320"/>
            <a:ext cx="201168" cy="201168"/>
          </a:xfrm>
          <a:prstGeom prst="ellipse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6949440" cy="146304"/>
          </a:xfrm>
          <a:prstGeom prst="rect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75488"/>
            <a:ext cx="4389120" cy="475488"/>
          </a:xfrm>
          <a:prstGeom prst="rect">
            <a:avLst/>
          </a:prstGeom>
          <a:solidFill>
            <a:srgbClr val="263058"/>
          </a:solidFill>
          <a:ln w="7620">
            <a:solidFill>
              <a:srgbClr val="D4A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75488"/>
            <a:ext cx="4389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D4AA2A"/>
                </a:solidFill>
                <a:latin typeface="游ゴシック"/>
              </a:defRPr>
            </a:pPr>
            <a:r>
              <a:t>銀座線  ×  浅草線  沿線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115568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FFFFFF"/>
                </a:solidFill>
                <a:latin typeface="游ゴシック"/>
              </a:defRPr>
            </a:pPr>
            <a:r>
              <a:t>厳選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029968"/>
            <a:ext cx="6217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 i="0">
                <a:solidFill>
                  <a:srgbClr val="D4AA2A"/>
                </a:solidFill>
                <a:latin typeface="游ゴシック"/>
              </a:defRPr>
            </a:pPr>
            <a:r>
              <a:t>寿司  5  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46120"/>
            <a:ext cx="6035040" cy="64008"/>
          </a:xfrm>
          <a:prstGeom prst="rect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401568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FFFFFF"/>
                </a:solidFill>
                <a:latin typeface="游ゴシック"/>
              </a:defRPr>
            </a:pPr>
            <a:r>
              <a:t>予算 1 万強 / 人  ｜  男友達 3 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5876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B8C0D8"/>
                </a:solidFill>
                <a:latin typeface="游ゴシック"/>
              </a:defRPr>
            </a:pPr>
            <a:r>
              <a:t>肩ひじ張らない江戸前鮨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572000"/>
            <a:ext cx="6035040" cy="658368"/>
          </a:xfrm>
          <a:prstGeom prst="rect">
            <a:avLst/>
          </a:prstGeom>
          <a:solidFill>
            <a:srgbClr val="222C50"/>
          </a:solidFill>
          <a:ln w="7620">
            <a:solidFill>
              <a:srgbClr val="D4A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617720"/>
            <a:ext cx="5852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B8C4D8"/>
                </a:solidFill>
                <a:latin typeface="游ゴシック"/>
              </a:defRPr>
            </a:pPr>
            <a:r>
              <a:t>食べログ × 口コミ件数 × メディア掲載</a:t>
            </a:r>
            <a:br/>
            <a:r>
              <a:t>でサクラを徹底排除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649224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1">
                <a:solidFill>
                  <a:srgbClr val="88889E"/>
                </a:solidFill>
                <a:latin typeface="游ゴシック"/>
              </a:defRPr>
            </a:pPr>
            <a:r>
              <a:t>2026年 4月 調査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0"/>
            <a:ext cx="5239512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0"/>
            <a:ext cx="73152" cy="6858000"/>
          </a:xfrm>
          <a:prstGeom prst="rect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0" y="457200"/>
            <a:ext cx="4114800" cy="4114800"/>
          </a:xfrm>
          <a:prstGeom prst="ellipse">
            <a:avLst/>
          </a:prstGeom>
          <a:solidFill>
            <a:srgbClr val="F0E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80" y="1097280"/>
            <a:ext cx="2834640" cy="28346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78040" y="4434840"/>
            <a:ext cx="228600" cy="292608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445312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游ゴシック"/>
              </a:defRPr>
            </a:pPr>
            <a:r>
              <a:t>浅草橋 鮨 うらおにかい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25328" y="447141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1">
                <a:solidFill>
                  <a:srgbClr val="88889E"/>
                </a:solidFill>
                <a:latin typeface="游ゴシック"/>
              </a:defRPr>
            </a:pPr>
            <a:r>
              <a:t>浅草線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4892040"/>
            <a:ext cx="228600" cy="292608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79" y="491032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游ゴシック"/>
              </a:defRPr>
            </a:pPr>
            <a:r>
              <a:t>銀座のみこ寿司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25328" y="492861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1">
                <a:solidFill>
                  <a:srgbClr val="88889E"/>
                </a:solidFill>
                <a:latin typeface="游ゴシック"/>
              </a:defRPr>
            </a:pPr>
            <a:r>
              <a:t>浅草線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78040" y="5349240"/>
            <a:ext cx="228600" cy="292608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79" y="536752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游ゴシック"/>
              </a:defRPr>
            </a:pPr>
            <a:r>
              <a:t>鮨結う遥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25328" y="538581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1">
                <a:solidFill>
                  <a:srgbClr val="88889E"/>
                </a:solidFill>
                <a:latin typeface="游ゴシック"/>
              </a:defRPr>
            </a:pPr>
            <a:r>
              <a:t>銀座線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5806440"/>
            <a:ext cx="228600" cy="292608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79" y="582472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游ゴシック"/>
              </a:defRPr>
            </a:pPr>
            <a:r>
              <a:t>上野 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25328" y="584301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1">
                <a:solidFill>
                  <a:srgbClr val="88889E"/>
                </a:solidFill>
                <a:latin typeface="游ゴシック"/>
              </a:defRPr>
            </a:pPr>
            <a:r>
              <a:t>銀座線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6263640"/>
            <a:ext cx="228600" cy="292608"/>
          </a:xfrm>
          <a:prstGeom prst="rect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8079" y="6281927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游ゴシック"/>
              </a:defRPr>
            </a:pPr>
            <a:r>
              <a:t>すしのすけ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25328" y="6300216"/>
            <a:ext cx="1325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1">
                <a:solidFill>
                  <a:srgbClr val="88889E"/>
                </a:solidFill>
                <a:latin typeface="游ゴシック"/>
              </a:defRPr>
            </a:pPr>
            <a:r>
              <a:t>銀座線・浅草線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78040" y="4023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88889E"/>
                </a:solidFill>
                <a:latin typeface="游ゴシック"/>
              </a:defRPr>
            </a:pPr>
            <a:r>
              <a:t>PICK UP  5  RESTAURANTS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游ゴシック"/>
              </a:defRPr>
            </a:pPr>
            <a:r>
              <a:t>選定基準  ─  サクラを見抜く 4 つのフィルター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78992"/>
            <a:ext cx="1145743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78992"/>
            <a:ext cx="118872" cy="1207008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21792" y="1353312"/>
            <a:ext cx="658368" cy="658368"/>
          </a:xfrm>
          <a:prstGeom prst="ellipse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35331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游ゴシック"/>
              </a:defRPr>
            </a:pPr>
            <a: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152144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A2E"/>
                </a:solidFill>
                <a:latin typeface="游ゴシック"/>
              </a:defRPr>
            </a:pPr>
            <a:r>
              <a:t>食べログ評価 3.5 以上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73352"/>
            <a:ext cx="9966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44458"/>
                </a:solidFill>
                <a:latin typeface="游ゴシック"/>
              </a:defRPr>
            </a:pPr>
            <a:r>
              <a:t>AIによる不正検知システムあり。業者による操作レビューは定期的に削除される。3.5超えは本物の実力の証。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496312"/>
            <a:ext cx="1145743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496312"/>
            <a:ext cx="118872" cy="1207008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1792" y="2770632"/>
            <a:ext cx="658368" cy="658368"/>
          </a:xfrm>
          <a:prstGeom prst="ellipse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77063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游ゴシック"/>
              </a:defRPr>
            </a:pPr>
            <a: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569464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A2E"/>
                </a:solidFill>
                <a:latin typeface="游ゴシック"/>
              </a:defRPr>
            </a:pPr>
            <a:r>
              <a:t>口コミ件数 100 件以上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090672"/>
            <a:ext cx="9966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44458"/>
                </a:solidFill>
                <a:latin typeface="游ゴシック"/>
              </a:defRPr>
            </a:pPr>
            <a:r>
              <a:t>件数が多いほど1件のサクラが全体に与える影響が小さくなる。今回の採用店は最低でも255件。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13632"/>
            <a:ext cx="1145743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13632"/>
            <a:ext cx="118872" cy="1207008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1792" y="4187952"/>
            <a:ext cx="658368" cy="658368"/>
          </a:xfrm>
          <a:prstGeom prst="ellipse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18795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游ゴシック"/>
              </a:defRPr>
            </a:pPr>
            <a: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986784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A2E"/>
                </a:solidFill>
                <a:latin typeface="游ゴシック"/>
              </a:defRPr>
            </a:pPr>
            <a:r>
              <a:t>複数の独立メディアに掲載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07992"/>
            <a:ext cx="9966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44458"/>
                </a:solidFill>
                <a:latin typeface="游ゴシック"/>
              </a:defRPr>
            </a:pPr>
            <a:r>
              <a:t>東京カレンダー・ヒトサラ・タイムアウト東京などの編集部が取材・選定した店を優先。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330952"/>
            <a:ext cx="11457432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5330952"/>
            <a:ext cx="118872" cy="1207008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1792" y="5605272"/>
            <a:ext cx="658368" cy="658368"/>
          </a:xfrm>
          <a:prstGeom prst="ellipse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605272"/>
            <a:ext cx="65836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游ゴシック"/>
              </a:defRPr>
            </a:pPr>
            <a: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404104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1A2E"/>
                </a:solidFill>
                <a:latin typeface="游ゴシック"/>
              </a:defRPr>
            </a:pPr>
            <a:r>
              <a:t>実績・ブランド背景の確認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5925312"/>
            <a:ext cx="9966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444458"/>
                </a:solidFill>
                <a:latin typeface="游ゴシック"/>
              </a:defRPr>
            </a:pPr>
            <a:r>
              <a:t>老舗の暖簾分け、超人気店の姉妹店など、バックグラウンドが独立して検証できる店のみ採用。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182880" y="-274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0" b="1" i="0">
                <a:solidFill>
                  <a:srgbClr val="F4E1DD"/>
                </a:solidFill>
                <a:latin typeface="游ゴシック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"/>
            <a:ext cx="12188952" cy="1078992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418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游ゴシック"/>
              </a:defRPr>
            </a:pPr>
            <a:r>
              <a:t>浅草橋 鮨 うらおにかい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996696"/>
            <a:ext cx="201168" cy="201168"/>
          </a:xfrm>
          <a:prstGeom prst="ellipse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9692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B8C8E0"/>
                </a:solidFill>
                <a:latin typeface="游ゴシック"/>
              </a:defRPr>
            </a:pPr>
            <a:r>
              <a:t>浅草橋駅 徒歩2分  ／  都営浅草線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0" y="274320"/>
            <a:ext cx="1463040" cy="694944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274320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  <a:latin typeface="游ゴシック"/>
              </a:defRPr>
            </a:pPr>
            <a:r>
              <a:t>No.01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444752"/>
            <a:ext cx="3520440" cy="5230368"/>
          </a:xfrm>
          <a:prstGeom prst="rect">
            <a:avLst/>
          </a:prstGeom>
          <a:solidFill>
            <a:srgbClr val="FFFFFF"/>
          </a:solidFill>
          <a:ln w="15240">
            <a:solidFill>
              <a:srgbClr val="C8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444752"/>
            <a:ext cx="91440" cy="5230368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444752"/>
            <a:ext cx="3429000" cy="169164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5361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食べログ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1810512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C84040"/>
                </a:solidFill>
                <a:latin typeface="游ゴシック"/>
              </a:defRPr>
            </a:pPr>
            <a:r>
              <a:t>3.53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25328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 i="0">
                <a:solidFill>
                  <a:srgbClr val="C84040"/>
                </a:solidFill>
                <a:latin typeface="游ゴシック"/>
              </a:defRPr>
            </a:pPr>
            <a:r>
              <a:t>★★★★☆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2843784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44458"/>
                </a:solidFill>
                <a:latin typeface="游ゴシック"/>
              </a:defRPr>
            </a:pPr>
            <a:r>
              <a:t>口コミ  255 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29184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予算（夜）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356616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游ゴシック"/>
              </a:defRPr>
            </a:pPr>
            <a:r>
              <a:t>10,000〜14,999円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33087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20624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サクラ安心度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480560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48848"/>
                </a:solidFill>
                <a:latin typeface="游ゴシック"/>
              </a:defRPr>
            </a:pPr>
            <a:r>
              <a:t>●●●●○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846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44458"/>
                </a:solidFill>
                <a:latin typeface="游ゴシック"/>
              </a:defRPr>
            </a:pPr>
            <a:r>
              <a:t>255件・複数メディア掲載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528523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掲載メディア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559552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444458"/>
                </a:solidFill>
                <a:latin typeface="游ゴシック"/>
              </a:defRPr>
            </a:pPr>
            <a:r>
              <a:t>タイムアウト東京 / ヒトサラ / Retty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05072" y="1444752"/>
            <a:ext cx="7955279" cy="420624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1444752"/>
            <a:ext cx="7955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游ゴシック"/>
              </a:defRPr>
            </a:pPr>
            <a:r>
              <a:t>  おすすめポイント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192024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05072" y="1920240"/>
            <a:ext cx="91440" cy="548640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198424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裏路地の「秘密基地」風外観 → 入った瞬間テンション爆上がり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05072" y="251460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05072" y="2514600"/>
            <a:ext cx="91440" cy="548640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257860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くずし鮨コース：15貫＋小皿3品＋1ドリンク付き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05072" y="310896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05072" y="3108960"/>
            <a:ext cx="91440" cy="548640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17296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若手職人に活躍の場を与えるため2019年に誕生した革新系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05072" y="370332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05072" y="3703320"/>
            <a:ext cx="91440" cy="548640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376732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海老天ノリ巻き・季節おまかせなど遊び心が満載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5072" y="429768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05072" y="4297680"/>
            <a:ext cx="91440" cy="548640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436168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タイムアウト東京・ヒトサラ 両メディアに掲載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05072" y="4946904"/>
            <a:ext cx="7955279" cy="1060704"/>
          </a:xfrm>
          <a:prstGeom prst="rect">
            <a:avLst/>
          </a:prstGeom>
          <a:solidFill>
            <a:srgbClr val="FFF3E0"/>
          </a:solidFill>
          <a:ln w="7620">
            <a:solidFill>
              <a:srgbClr val="BB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05072" y="4946904"/>
            <a:ext cx="91440" cy="1060704"/>
          </a:xfrm>
          <a:prstGeom prst="rect">
            <a:avLst/>
          </a:prstGeom>
          <a:solidFill>
            <a:srgbClr val="BB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5001768"/>
            <a:ext cx="766267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BB7000"/>
                </a:solidFill>
                <a:latin typeface="游ゴシック"/>
              </a:defRPr>
            </a:pPr>
            <a:r>
              <a:t>⚠  注意点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349240"/>
            <a:ext cx="766267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44458"/>
                </a:solidFill>
                <a:latin typeface="游ゴシック"/>
              </a:defRPr>
            </a:pPr>
            <a:r>
              <a:t>飲み物を追加すると1.5万を超える場合あり。事前にコース内容と込み料金を確認推奨。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182880" y="-274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0" b="1" i="0">
                <a:solidFill>
                  <a:srgbClr val="DDEAE2"/>
                </a:solidFill>
                <a:latin typeface="游ゴシック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"/>
            <a:ext cx="12188952" cy="1078992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418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游ゴシック"/>
              </a:defRPr>
            </a:pPr>
            <a:r>
              <a:t>銀座のみこ寿司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996696"/>
            <a:ext cx="201168" cy="201168"/>
          </a:xfrm>
          <a:prstGeom prst="ellipse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9692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B8C8E0"/>
                </a:solidFill>
                <a:latin typeface="游ゴシック"/>
              </a:defRPr>
            </a:pPr>
            <a:r>
              <a:t>東銀座駅 徒歩4分  ／  都営浅草線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0" y="274320"/>
            <a:ext cx="1463040" cy="694944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274320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  <a:latin typeface="游ゴシック"/>
              </a:defRPr>
            </a:pPr>
            <a:r>
              <a:t>No.02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444752"/>
            <a:ext cx="3520440" cy="5230368"/>
          </a:xfrm>
          <a:prstGeom prst="rect">
            <a:avLst/>
          </a:prstGeom>
          <a:solidFill>
            <a:srgbClr val="FFFFFF"/>
          </a:solidFill>
          <a:ln w="15240">
            <a:solidFill>
              <a:srgbClr val="0C8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444752"/>
            <a:ext cx="91440" cy="5230368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444752"/>
            <a:ext cx="3429000" cy="1691640"/>
          </a:xfrm>
          <a:prstGeom prst="rect">
            <a:avLst/>
          </a:prstGeom>
          <a:solidFill>
            <a:srgbClr val="E8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5361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食べログ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1810512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0C886A"/>
                </a:solidFill>
                <a:latin typeface="游ゴシック"/>
              </a:defRPr>
            </a:pPr>
            <a:r>
              <a:t>3.57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25328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 i="0">
                <a:solidFill>
                  <a:srgbClr val="0C886A"/>
                </a:solidFill>
                <a:latin typeface="游ゴシック"/>
              </a:defRPr>
            </a:pPr>
            <a:r>
              <a:t>★★★★☆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2843784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44458"/>
                </a:solidFill>
                <a:latin typeface="游ゴシック"/>
              </a:defRPr>
            </a:pPr>
            <a:r>
              <a:t>口コミ  433 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29184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予算（夜）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356616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游ゴシック"/>
              </a:defRPr>
            </a:pPr>
            <a:r>
              <a:t>8,000〜9,999円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33087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20624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サクラ安心度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480560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48848"/>
                </a:solidFill>
                <a:latin typeface="游ゴシック"/>
              </a:defRPr>
            </a:pPr>
            <a:r>
              <a:t>●●●●○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846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44458"/>
                </a:solidFill>
                <a:latin typeface="游ゴシック"/>
              </a:defRPr>
            </a:pPr>
            <a:r>
              <a:t>433件（5店中最多）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528523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掲載メディア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559552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444458"/>
                </a:solidFill>
                <a:latin typeface="游ゴシック"/>
              </a:defRPr>
            </a:pPr>
            <a:r>
              <a:t>ヒトサラマガジン / 食べログ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05072" y="1444752"/>
            <a:ext cx="7955279" cy="420624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1444752"/>
            <a:ext cx="7955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游ゴシック"/>
              </a:defRPr>
            </a:pPr>
            <a:r>
              <a:t>  おすすめポイント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192024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05072" y="1920240"/>
            <a:ext cx="91440" cy="548640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198424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口コミ433件は本日紹介する5店の中でダントツ1位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05072" y="251460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05072" y="2514600"/>
            <a:ext cx="91440" cy="548640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257860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毎朝市場から直仕入れの旬ネタをリーズナブルに提供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05072" y="310896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05072" y="3108960"/>
            <a:ext cx="91440" cy="548640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17296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「ウニパラダイス」— 複数産地のウニを食べ比べられる名物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05072" y="370332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05072" y="3703320"/>
            <a:ext cx="91440" cy="548640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376732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カウンター10席のみ。職人との距離が近く会話が弾む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5072" y="429768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05072" y="4297680"/>
            <a:ext cx="91440" cy="548640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436168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予算1万円以内に収まる可能性が高い（5店で最も安い帯）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05072" y="4946904"/>
            <a:ext cx="7955279" cy="1060704"/>
          </a:xfrm>
          <a:prstGeom prst="rect">
            <a:avLst/>
          </a:prstGeom>
          <a:solidFill>
            <a:srgbClr val="FFF3E0"/>
          </a:solidFill>
          <a:ln w="7620">
            <a:solidFill>
              <a:srgbClr val="BB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05072" y="4946904"/>
            <a:ext cx="91440" cy="1060704"/>
          </a:xfrm>
          <a:prstGeom prst="rect">
            <a:avLst/>
          </a:prstGeom>
          <a:solidFill>
            <a:srgbClr val="BB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5001768"/>
            <a:ext cx="766267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BB7000"/>
                </a:solidFill>
                <a:latin typeface="游ゴシック"/>
              </a:defRPr>
            </a:pPr>
            <a:r>
              <a:t>⚠  注意点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349240"/>
            <a:ext cx="766267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44458"/>
                </a:solidFill>
                <a:latin typeface="游ゴシック"/>
              </a:defRPr>
            </a:pPr>
            <a:r>
              <a:t>ウニ専門色が強め。ウニが苦手なメンバーがいる場合は要確認。ランチの食べ放題と混同注意。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182880" y="-274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0" b="1" i="0">
                <a:solidFill>
                  <a:srgbClr val="EAE1EE"/>
                </a:solidFill>
                <a:latin typeface="游ゴシック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"/>
            <a:ext cx="12188952" cy="1078992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418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游ゴシック"/>
              </a:defRPr>
            </a:pPr>
            <a:r>
              <a:t>鮨結う遥  （すしゆうはるか）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996696"/>
            <a:ext cx="201168" cy="201168"/>
          </a:xfrm>
          <a:prstGeom prst="ellipse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9692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B8C8E0"/>
                </a:solidFill>
                <a:latin typeface="游ゴシック"/>
              </a:defRPr>
            </a:pPr>
            <a:r>
              <a:t>末広町駅 徒歩3分  ／  東京メトロ銀座線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0" y="274320"/>
            <a:ext cx="1463040" cy="694944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274320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  <a:latin typeface="游ゴシック"/>
              </a:defRPr>
            </a:pPr>
            <a:r>
              <a:t>No.03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444752"/>
            <a:ext cx="3520440" cy="5230368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444752"/>
            <a:ext cx="91440" cy="5230368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444752"/>
            <a:ext cx="3429000" cy="1691640"/>
          </a:xfrm>
          <a:prstGeom prst="rect">
            <a:avLst/>
          </a:prstGeom>
          <a:solidFill>
            <a:srgbClr val="F3E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5361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食べログ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1810512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7C3ACC"/>
                </a:solidFill>
                <a:latin typeface="游ゴシック"/>
              </a:defRPr>
            </a:pPr>
            <a:r>
              <a:t>3.65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25328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 i="0">
                <a:solidFill>
                  <a:srgbClr val="7C3ACC"/>
                </a:solidFill>
                <a:latin typeface="游ゴシック"/>
              </a:defRPr>
            </a:pPr>
            <a:r>
              <a:t>★★★★☆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2843784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44458"/>
                </a:solidFill>
                <a:latin typeface="游ゴシック"/>
              </a:defRPr>
            </a:pPr>
            <a:r>
              <a:t>口コミ  新店につき蓄積中 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29184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予算（夜）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356616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游ゴシック"/>
              </a:defRPr>
            </a:pPr>
            <a:r>
              <a:t>13,200円（飲み放題込み）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33087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20624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サクラ安心度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480560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BB7000"/>
                </a:solidFill>
                <a:latin typeface="游ゴシック"/>
              </a:defRPr>
            </a:pPr>
            <a:r>
              <a:t>●●●○○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846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44458"/>
                </a:solidFill>
                <a:latin typeface="游ゴシック"/>
              </a:defRPr>
            </a:pPr>
            <a:r>
              <a:t>新店・親ブランドで信頼補完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528523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掲載メディア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559552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444458"/>
                </a:solidFill>
                <a:latin typeface="游ゴシック"/>
              </a:defRPr>
            </a:pPr>
            <a:r>
              <a:t>グルカレ（東京カレンダー系）/ 一休.com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05072" y="1444752"/>
            <a:ext cx="7955279" cy="420624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1444752"/>
            <a:ext cx="7955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游ゴシック"/>
              </a:defRPr>
            </a:pPr>
            <a:r>
              <a:t>  おすすめポイント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192024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05072" y="1920240"/>
            <a:ext cx="91440" cy="548640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198424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食べログ 3.65 ── 今回紹介する5店の中で最高スコア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05072" y="251460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05072" y="2514600"/>
            <a:ext cx="91440" cy="548640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257860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超人気「鮨結う翼」（恵比寿）の姉妹店。職人の質は折り紙付き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05072" y="310896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05072" y="3108960"/>
            <a:ext cx="91440" cy="548640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17296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飲み放題込み13,200円 → 酒好き3人なら実質的に最安値級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05072" y="370332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05072" y="3703320"/>
            <a:ext cx="91440" cy="548640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376732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若大将の軽快なトークでエンタメ感があり、男友達3人向け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5072" y="429768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05072" y="4297680"/>
            <a:ext cx="91440" cy="548640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436168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東京カレンダー系メディア「グルカレ」で特集記事掲載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05072" y="4946904"/>
            <a:ext cx="7955279" cy="1060704"/>
          </a:xfrm>
          <a:prstGeom prst="rect">
            <a:avLst/>
          </a:prstGeom>
          <a:solidFill>
            <a:srgbClr val="FFF3E0"/>
          </a:solidFill>
          <a:ln w="7620">
            <a:solidFill>
              <a:srgbClr val="BB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05072" y="4946904"/>
            <a:ext cx="91440" cy="1060704"/>
          </a:xfrm>
          <a:prstGeom prst="rect">
            <a:avLst/>
          </a:prstGeom>
          <a:solidFill>
            <a:srgbClr val="BB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5001768"/>
            <a:ext cx="766267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BB7000"/>
                </a:solidFill>
                <a:latin typeface="游ゴシック"/>
              </a:defRPr>
            </a:pPr>
            <a:r>
              <a:t>⚠  注意点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349240"/>
            <a:ext cx="766267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44458"/>
                </a:solidFill>
                <a:latin typeface="游ゴシック"/>
              </a:defRPr>
            </a:pPr>
            <a:r>
              <a:t>2024年12月開店の新店。口コミ件数が少なく評価の母数が小さい。予約は数ヶ月先まで埋まりやすい。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182880" y="-274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0" b="1" i="0">
                <a:solidFill>
                  <a:srgbClr val="F4E7D5"/>
                </a:solidFill>
                <a:latin typeface="游ゴシック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"/>
            <a:ext cx="12188952" cy="1078992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418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游ゴシック"/>
              </a:defRPr>
            </a:pPr>
            <a:r>
              <a:t>上野 榮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996696"/>
            <a:ext cx="201168" cy="201168"/>
          </a:xfrm>
          <a:prstGeom prst="ellipse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9692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B8C8E0"/>
                </a:solidFill>
                <a:latin typeface="游ゴシック"/>
              </a:defRPr>
            </a:pPr>
            <a:r>
              <a:t>上野広小路駅 すぐ  ／  東京メトロ銀座線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0" y="274320"/>
            <a:ext cx="1463040" cy="694944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274320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  <a:latin typeface="游ゴシック"/>
              </a:defRPr>
            </a:pPr>
            <a:r>
              <a:t>No.04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444752"/>
            <a:ext cx="3520440" cy="5230368"/>
          </a:xfrm>
          <a:prstGeom prst="rect">
            <a:avLst/>
          </a:prstGeom>
          <a:solidFill>
            <a:srgbClr val="FFFFFF"/>
          </a:solidFill>
          <a:ln w="15240">
            <a:solidFill>
              <a:srgbClr val="C86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444752"/>
            <a:ext cx="91440" cy="5230368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444752"/>
            <a:ext cx="3429000" cy="169164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5361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食べログ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1810512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C86E00"/>
                </a:solidFill>
                <a:latin typeface="游ゴシック"/>
              </a:defRPr>
            </a:pPr>
            <a:r>
              <a:t>3.56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25328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 i="0">
                <a:solidFill>
                  <a:srgbClr val="C86E00"/>
                </a:solidFill>
                <a:latin typeface="游ゴシック"/>
              </a:defRPr>
            </a:pPr>
            <a:r>
              <a:t>★★★★☆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2843784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44458"/>
                </a:solidFill>
                <a:latin typeface="游ゴシック"/>
              </a:defRPr>
            </a:pPr>
            <a:r>
              <a:t>口コミ  319 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29184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予算（夜）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356616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游ゴシック"/>
              </a:defRPr>
            </a:pPr>
            <a:r>
              <a:t>9,000〜13,200円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33087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20624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サクラ安心度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480560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48848"/>
                </a:solidFill>
                <a:latin typeface="游ゴシック"/>
              </a:defRPr>
            </a:pPr>
            <a:r>
              <a:t>●●●●○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846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44458"/>
                </a:solidFill>
                <a:latin typeface="游ゴシック"/>
              </a:defRPr>
            </a:pPr>
            <a:r>
              <a:t>319件・一休掲載・評価安定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528523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掲載メディア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559552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444458"/>
                </a:solidFill>
                <a:latin typeface="游ゴシック"/>
              </a:defRPr>
            </a:pPr>
            <a:r>
              <a:t>一休.comレストラン / Retty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05072" y="1444752"/>
            <a:ext cx="7955279" cy="420624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1444752"/>
            <a:ext cx="7955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游ゴシック"/>
              </a:defRPr>
            </a:pPr>
            <a:r>
              <a:t>  おすすめポイント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192024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05072" y="1920240"/>
            <a:ext cx="91440" cy="548640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198424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雑居ビル12階の隠れ家。上野の下町感と好対照の洗練された空間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05072" y="251460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05072" y="2514600"/>
            <a:ext cx="91440" cy="548640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257860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319件の口コミで評価が安定 ── 長期的な実力店の証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05072" y="310896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05072" y="3108960"/>
            <a:ext cx="91440" cy="548640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17296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個室チャージなし・サービス料なしという良心的な会計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05072" y="370332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05072" y="3703320"/>
            <a:ext cx="91440" cy="548640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376732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おまかせ9,000円〜 と今回の中でも手頃なスタートライン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5072" y="429768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05072" y="4297680"/>
            <a:ext cx="91440" cy="548640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436168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赤酢シャリ・岩塩で食べるスタイルで鮨好きも唸る技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05072" y="4946904"/>
            <a:ext cx="7955279" cy="1060704"/>
          </a:xfrm>
          <a:prstGeom prst="rect">
            <a:avLst/>
          </a:prstGeom>
          <a:solidFill>
            <a:srgbClr val="FFF3E0"/>
          </a:solidFill>
          <a:ln w="7620">
            <a:solidFill>
              <a:srgbClr val="BB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05072" y="4946904"/>
            <a:ext cx="91440" cy="1060704"/>
          </a:xfrm>
          <a:prstGeom prst="rect">
            <a:avLst/>
          </a:prstGeom>
          <a:solidFill>
            <a:srgbClr val="BB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5001768"/>
            <a:ext cx="766267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BB7000"/>
                </a:solidFill>
                <a:latin typeface="游ゴシック"/>
              </a:defRPr>
            </a:pPr>
            <a:r>
              <a:t>⚠  注意点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349240"/>
            <a:ext cx="766267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44458"/>
                </a:solidFill>
                <a:latin typeface="游ゴシック"/>
              </a:defRPr>
            </a:pPr>
            <a:r>
              <a:t>完全予約制のおまかせコースのみ。飛び込みは不可。コースによっては13,200円になる場合あり。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182880" y="-2743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0" b="1" i="0">
                <a:solidFill>
                  <a:srgbClr val="DEE6EB"/>
                </a:solidFill>
                <a:latin typeface="游ゴシック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01168"/>
            <a:ext cx="12188952" cy="1078992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56032"/>
            <a:ext cx="9418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游ゴシック"/>
              </a:defRPr>
            </a:pPr>
            <a:r>
              <a:t>おまかせ寿司 すしのすけ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996696"/>
            <a:ext cx="201168" cy="201168"/>
          </a:xfrm>
          <a:prstGeom prst="ellipse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96926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B8C8E0"/>
                </a:solidFill>
                <a:latin typeface="游ゴシック"/>
              </a:defRPr>
            </a:pPr>
            <a:r>
              <a:t>新橋駅 徒歩1分  ／  銀座線・浅草線 両線利用可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0" y="274320"/>
            <a:ext cx="1463040" cy="694944"/>
          </a:xfrm>
          <a:prstGeom prst="rect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274320"/>
            <a:ext cx="14630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  <a:latin typeface="游ゴシック"/>
              </a:defRPr>
            </a:pPr>
            <a:r>
              <a:t>No.05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" y="1444752"/>
            <a:ext cx="3520440" cy="5230368"/>
          </a:xfrm>
          <a:prstGeom prst="rect">
            <a:avLst/>
          </a:prstGeom>
          <a:solidFill>
            <a:srgbClr val="FFFFFF"/>
          </a:solidFill>
          <a:ln w="15240">
            <a:solidFill>
              <a:srgbClr val="186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6032" y="1444752"/>
            <a:ext cx="91440" cy="5230368"/>
          </a:xfrm>
          <a:prstGeom prst="rect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" y="1444752"/>
            <a:ext cx="3429000" cy="1691640"/>
          </a:xfrm>
          <a:prstGeom prst="rect">
            <a:avLst/>
          </a:prstGeom>
          <a:solidFill>
            <a:srgbClr val="E8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5361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食べログ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1810512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 i="0">
                <a:solidFill>
                  <a:srgbClr val="186AB4"/>
                </a:solidFill>
                <a:latin typeface="游ゴシック"/>
              </a:defRPr>
            </a:pPr>
            <a:r>
              <a:t>3.52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2532888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0" i="0">
                <a:solidFill>
                  <a:srgbClr val="186AB4"/>
                </a:solidFill>
                <a:latin typeface="游ゴシック"/>
              </a:defRPr>
            </a:pPr>
            <a:r>
              <a:t>★★★★☆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" y="2843784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444458"/>
                </a:solidFill>
                <a:latin typeface="游ゴシック"/>
              </a:defRPr>
            </a:pPr>
            <a:r>
              <a:t>口コミ  21 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329184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予算（夜）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356616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2E"/>
                </a:solidFill>
                <a:latin typeface="游ゴシック"/>
              </a:defRPr>
            </a:pPr>
            <a:r>
              <a:t>8,800円（おまかせ20品）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133087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4206240"/>
            <a:ext cx="3520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サクラ安心度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480560"/>
            <a:ext cx="3520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BE2828"/>
                </a:solidFill>
                <a:latin typeface="游ゴシック"/>
              </a:defRPr>
            </a:pPr>
            <a:r>
              <a:t>●●○○○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" y="4846320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444458"/>
                </a:solidFill>
                <a:latin typeface="游ゴシック"/>
              </a:defRPr>
            </a:pPr>
            <a:r>
              <a:t>口コミ21件 → 要注意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212080"/>
            <a:ext cx="3118104" cy="36576"/>
          </a:xfrm>
          <a:prstGeom prst="rect">
            <a:avLst/>
          </a:prstGeom>
          <a:solidFill>
            <a:srgbClr val="D8D5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528523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88889E"/>
                </a:solidFill>
                <a:latin typeface="游ゴシック"/>
              </a:defRPr>
            </a:pPr>
            <a:r>
              <a:t>掲載メディア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559552"/>
            <a:ext cx="3520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444458"/>
                </a:solidFill>
                <a:latin typeface="游ゴシック"/>
              </a:defRPr>
            </a:pPr>
            <a:r>
              <a:t>note（ウニ王子）/ 私的標本ブログ / ヒトサラ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05072" y="1444752"/>
            <a:ext cx="7955279" cy="420624"/>
          </a:xfrm>
          <a:prstGeom prst="rect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05072" y="1444752"/>
            <a:ext cx="7955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游ゴシック"/>
              </a:defRPr>
            </a:pPr>
            <a:r>
              <a:t>  おすすめポイント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192024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05072" y="1920240"/>
            <a:ext cx="91440" cy="548640"/>
          </a:xfrm>
          <a:prstGeom prst="rect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198424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新橋駅1分・ニュー新橋ビルB1F。5店の中でアクセス最強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05072" y="251460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05072" y="2514600"/>
            <a:ext cx="91440" cy="548640"/>
          </a:xfrm>
          <a:prstGeom prst="rect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0" y="257860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おまかせ20品 8,800円 ── 今回の5店でダントツ最安値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05072" y="310896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05072" y="3108960"/>
            <a:ext cx="91440" cy="548640"/>
          </a:xfrm>
          <a:prstGeom prst="rect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17296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BAR風のムーディな内装で「カジュアル感」が最も高い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05072" y="370332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05072" y="3703320"/>
            <a:ext cx="91440" cy="548640"/>
          </a:xfrm>
          <a:prstGeom prst="rect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376732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ウニ・イクラ・カニ乗せ小丼が名物料理として評判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05072" y="4297680"/>
            <a:ext cx="795527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05072" y="4297680"/>
            <a:ext cx="91440" cy="548640"/>
          </a:xfrm>
          <a:prstGeom prst="rect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0" y="4361688"/>
            <a:ext cx="7662671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A1A2E"/>
                </a:solidFill>
                <a:latin typeface="游ゴシック"/>
              </a:defRPr>
            </a:pPr>
            <a:r>
              <a:t>数ヶ月先まで予約困難 → 実際の来客に支えられた人気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05072" y="4946904"/>
            <a:ext cx="7955279" cy="1060704"/>
          </a:xfrm>
          <a:prstGeom prst="rect">
            <a:avLst/>
          </a:prstGeom>
          <a:solidFill>
            <a:srgbClr val="FFF3E0"/>
          </a:solidFill>
          <a:ln w="7620">
            <a:solidFill>
              <a:srgbClr val="BB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05072" y="4946904"/>
            <a:ext cx="91440" cy="1060704"/>
          </a:xfrm>
          <a:prstGeom prst="rect">
            <a:avLst/>
          </a:prstGeom>
          <a:solidFill>
            <a:srgbClr val="BB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5001768"/>
            <a:ext cx="7662671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BB7000"/>
                </a:solidFill>
                <a:latin typeface="游ゴシック"/>
              </a:defRPr>
            </a:pPr>
            <a:r>
              <a:t>⚠  注意点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06240" y="5349240"/>
            <a:ext cx="7662671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44458"/>
                </a:solidFill>
                <a:latin typeface="游ゴシック"/>
              </a:defRPr>
            </a:pPr>
            <a:r>
              <a:t>⚠ 口コミ数21件は5店中最少で評価の信頼性が最も低い。複数の個人ブログで裏取りは取れているが、来店前に直近の口コミを必ず確認すること。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1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64592"/>
            <a:ext cx="82296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游ゴシック"/>
              </a:defRPr>
            </a:pPr>
            <a:r>
              <a:t>5 店  比較まとめ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24128"/>
            <a:ext cx="11640312" cy="457200"/>
          </a:xfrm>
          <a:prstGeom prst="rect">
            <a:avLst/>
          </a:prstGeom>
          <a:solidFill>
            <a:srgbClr val="D4A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" y="1069848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41C38"/>
                </a:solidFill>
                <a:latin typeface="游ゴシック"/>
              </a:defRPr>
            </a:pPr>
            <a:r>
              <a:t>店名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6624" y="1069848"/>
            <a:ext cx="22585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41C38"/>
                </a:solidFill>
                <a:latin typeface="游ゴシック"/>
              </a:defRPr>
            </a:pPr>
            <a:r>
              <a:t>最寄り駅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38344" y="1069848"/>
            <a:ext cx="12984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41C38"/>
                </a:solidFill>
                <a:latin typeface="游ゴシック"/>
              </a:defRPr>
            </a:pPr>
            <a:r>
              <a:t>食べログ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9944" y="1069848"/>
            <a:ext cx="17556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41C38"/>
                </a:solidFill>
                <a:latin typeface="游ゴシック"/>
              </a:defRPr>
            </a:pPr>
            <a:r>
              <a:t>予算/人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38744" y="1069848"/>
            <a:ext cx="10241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41C38"/>
                </a:solidFill>
                <a:latin typeface="游ゴシック"/>
              </a:defRPr>
            </a:pPr>
            <a:r>
              <a:t>安心度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6024" y="1069848"/>
            <a:ext cx="24505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41C38"/>
                </a:solidFill>
                <a:latin typeface="游ゴシック"/>
              </a:defRPr>
            </a:pPr>
            <a:r>
              <a:t>一言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1481328"/>
            <a:ext cx="11640312" cy="950976"/>
          </a:xfrm>
          <a:prstGeom prst="rect">
            <a:avLst/>
          </a:prstGeom>
          <a:solidFill>
            <a:srgbClr val="FFFFFF"/>
          </a:solidFill>
          <a:ln w="381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2880" y="1481328"/>
            <a:ext cx="109728" cy="950976"/>
          </a:xfrm>
          <a:prstGeom prst="rect">
            <a:avLst/>
          </a:prstGeom>
          <a:solidFill>
            <a:srgbClr val="C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" y="1572768"/>
            <a:ext cx="23042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浅草橋 鮨 うらおにかい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572768"/>
            <a:ext cx="21488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浅草橋駅 徒歩2分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1572768"/>
            <a:ext cx="11887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89018"/>
                </a:solidFill>
                <a:latin typeface="游ゴシック"/>
              </a:defRPr>
            </a:pPr>
            <a:r>
              <a:t>3.53 / 255件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1572768"/>
            <a:ext cx="1645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〜15,000円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1572768"/>
            <a:ext cx="914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48848"/>
                </a:solidFill>
                <a:latin typeface="游ゴシック"/>
              </a:defRPr>
            </a:pPr>
            <a:r>
              <a:t>●●●●○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1572768"/>
            <a:ext cx="234086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くずし鮨×秘密基地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2432304"/>
            <a:ext cx="11640312" cy="950976"/>
          </a:xfrm>
          <a:prstGeom prst="rect">
            <a:avLst/>
          </a:prstGeom>
          <a:solidFill>
            <a:srgbClr val="F0EDE5"/>
          </a:solidFill>
          <a:ln w="381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" y="2432304"/>
            <a:ext cx="109728" cy="950976"/>
          </a:xfrm>
          <a:prstGeom prst="rect">
            <a:avLst/>
          </a:prstGeom>
          <a:solidFill>
            <a:srgbClr val="0C8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" y="2523744"/>
            <a:ext cx="23042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銀座のみこ寿司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2523744"/>
            <a:ext cx="21488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東銀座駅 徒歩4分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2523744"/>
            <a:ext cx="11887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89018"/>
                </a:solidFill>
                <a:latin typeface="游ゴシック"/>
              </a:defRPr>
            </a:pPr>
            <a:r>
              <a:t>3.57 / 433件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2523744"/>
            <a:ext cx="1645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〜9,999円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0184" y="2523744"/>
            <a:ext cx="914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48848"/>
                </a:solidFill>
                <a:latin typeface="游ゴシック"/>
              </a:defRPr>
            </a:pPr>
            <a:r>
              <a:t>●●●●○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27464" y="2523744"/>
            <a:ext cx="234086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ウニ特化・最多口コミ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" y="3383280"/>
            <a:ext cx="11640312" cy="950976"/>
          </a:xfrm>
          <a:prstGeom prst="rect">
            <a:avLst/>
          </a:prstGeom>
          <a:solidFill>
            <a:srgbClr val="FFFFFF"/>
          </a:solidFill>
          <a:ln w="381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2880" y="3383280"/>
            <a:ext cx="109728" cy="950976"/>
          </a:xfrm>
          <a:prstGeom prst="rect">
            <a:avLst/>
          </a:prstGeom>
          <a:solidFill>
            <a:srgbClr val="7C3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" y="3474720"/>
            <a:ext cx="23042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鮨結う遥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98064" y="3474720"/>
            <a:ext cx="21488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末広町駅 徒歩3分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9784" y="3474720"/>
            <a:ext cx="11887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89018"/>
                </a:solidFill>
                <a:latin typeface="游ゴシック"/>
              </a:defRPr>
            </a:pPr>
            <a:r>
              <a:t>3.65 / 新店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1384" y="3474720"/>
            <a:ext cx="1645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13,200円(飲放)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4" y="3474720"/>
            <a:ext cx="914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B7000"/>
                </a:solidFill>
                <a:latin typeface="游ゴシック"/>
              </a:defRPr>
            </a:pPr>
            <a:r>
              <a:t>●●●○○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27464" y="3474720"/>
            <a:ext cx="234086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飲み放題込・最高点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2880" y="4334256"/>
            <a:ext cx="11640312" cy="950976"/>
          </a:xfrm>
          <a:prstGeom prst="rect">
            <a:avLst/>
          </a:prstGeom>
          <a:solidFill>
            <a:srgbClr val="F0EDE5"/>
          </a:solidFill>
          <a:ln w="381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82880" y="4334256"/>
            <a:ext cx="109728" cy="950976"/>
          </a:xfrm>
          <a:prstGeom prst="rect">
            <a:avLst/>
          </a:prstGeom>
          <a:solidFill>
            <a:srgbClr val="C86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" y="4425696"/>
            <a:ext cx="23042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上野 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98064" y="4425696"/>
            <a:ext cx="21488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上野広小路駅すぐ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29784" y="4425696"/>
            <a:ext cx="11887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89018"/>
                </a:solidFill>
                <a:latin typeface="游ゴシック"/>
              </a:defRPr>
            </a:pPr>
            <a:r>
              <a:t>3.56 / 319件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01384" y="4425696"/>
            <a:ext cx="1645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9,000円〜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0184" y="4425696"/>
            <a:ext cx="914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48848"/>
                </a:solidFill>
                <a:latin typeface="游ゴシック"/>
              </a:defRPr>
            </a:pPr>
            <a:r>
              <a:t>●●●●○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27464" y="4425696"/>
            <a:ext cx="234086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安定実力・個室あり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82880" y="5285232"/>
            <a:ext cx="11640312" cy="950976"/>
          </a:xfrm>
          <a:prstGeom prst="rect">
            <a:avLst/>
          </a:prstGeom>
          <a:solidFill>
            <a:srgbClr val="FFFFFF"/>
          </a:solidFill>
          <a:ln w="3810">
            <a:solidFill>
              <a:srgbClr val="D8D5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82880" y="5285232"/>
            <a:ext cx="109728" cy="950976"/>
          </a:xfrm>
          <a:prstGeom prst="rect">
            <a:avLst/>
          </a:prstGeom>
          <a:solidFill>
            <a:srgbClr val="186A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5376672"/>
            <a:ext cx="230428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おまかせ寿司すしのすけ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98064" y="5376672"/>
            <a:ext cx="2148839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新橋駅 徒歩1分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9784" y="5376672"/>
            <a:ext cx="11887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89018"/>
                </a:solidFill>
                <a:latin typeface="游ゴシック"/>
              </a:defRPr>
            </a:pPr>
            <a:r>
              <a:t>3.52 / 21件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01384" y="5376672"/>
            <a:ext cx="164592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8,800円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0184" y="5376672"/>
            <a:ext cx="9144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E2828"/>
                </a:solidFill>
                <a:latin typeface="游ゴシック"/>
              </a:defRPr>
            </a:pPr>
            <a:r>
              <a:t>●●○○○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27464" y="5376672"/>
            <a:ext cx="2340863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游ゴシック"/>
              </a:defRPr>
            </a:pPr>
            <a:r>
              <a:t>最安値・口コミ要確認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2880" y="6510528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88889E"/>
                </a:solidFill>
                <a:latin typeface="游ゴシック"/>
              </a:defRPr>
            </a:pPr>
            <a:r>
              <a:t>※ 情報は2026年4月時点。最新の予約状況・価格は各店公式サイト・食べログで必ずご確認ください。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