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411480"/>
            <a:ext cx="64008" cy="603504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411480"/>
            <a:ext cx="18288" cy="6035040"/>
          </a:xfrm>
          <a:prstGeom prst="rect">
            <a:avLst/>
          </a:prstGeom>
          <a:solidFill>
            <a:srgbClr val="E8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31168" y="411480"/>
            <a:ext cx="64008" cy="603504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9966960" cy="3931920"/>
          </a:xfrm>
          <a:prstGeom prst="rect">
            <a:avLst/>
          </a:prstGeom>
          <a:solidFill>
            <a:srgbClr val="FDF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9966960" cy="64008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5239512"/>
            <a:ext cx="9966960" cy="64008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572768"/>
            <a:ext cx="9784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785810"/>
                </a:solidFill>
              </a:defRPr>
            </a:pPr>
            <a:r>
              <a:t>上野 榮（さかえ）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834640"/>
            <a:ext cx="5760720" cy="45720"/>
          </a:xfrm>
          <a:prstGeom prst="rect">
            <a:avLst/>
          </a:prstGeom>
          <a:solidFill>
            <a:srgbClr val="E8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944368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 i="0">
                <a:solidFill>
                  <a:srgbClr val="1C1C1C"/>
                </a:solidFill>
              </a:defRPr>
            </a:pPr>
            <a:r>
              <a:t>完全ガイド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913632"/>
            <a:ext cx="9784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1">
                <a:solidFill>
                  <a:srgbClr val="A07820"/>
                </a:solidFill>
              </a:defRPr>
            </a:pPr>
            <a:r>
              <a:t>— 江戸前鮨の本格派 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617720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3C3C3C"/>
                </a:solidFill>
              </a:defRPr>
            </a:pPr>
            <a:r>
              <a:t>東京都台東区上野　c-roadビル12F　｜　銀座久兵衛の系譜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1081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707070"/>
                </a:solidFill>
              </a:defRPr>
            </a:pPr>
            <a:r>
              <a:t>調査資料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FDF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"/>
            <a:ext cx="64008" cy="96012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785810"/>
                </a:solidFill>
              </a:defRPr>
            </a:pPr>
            <a:r>
              <a:t>お店概要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686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A07820"/>
                </a:solidFill>
              </a:defRPr>
            </a:pPr>
            <a:r>
              <a:t>STORE INFORMATION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394960" cy="516636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82296" cy="516636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44475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785810"/>
                </a:solidFill>
              </a:defRPr>
            </a:pPr>
            <a:r>
              <a:t>基本情報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93392"/>
            <a:ext cx="5394960" cy="36576"/>
          </a:xfrm>
          <a:prstGeom prst="rect">
            <a:avLst/>
          </a:prstGeom>
          <a:solidFill>
            <a:srgbClr val="E8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084831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07820"/>
                </a:solidFill>
              </a:defRPr>
            </a:pPr>
            <a:r>
              <a:t>住所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084831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C1C1C"/>
                </a:solidFill>
              </a:defRPr>
            </a:pPr>
            <a:r>
              <a:t>東京都台東区上野4-4-5</a:t>
            </a:r>
            <a:br/>
            <a:r>
              <a:t>c-roadビル12F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5212080" cy="1828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39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07820"/>
                </a:solidFill>
              </a:defRPr>
            </a:pPr>
            <a:r>
              <a:t>電話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834639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C1C1C"/>
                </a:solidFill>
              </a:defRPr>
            </a:pPr>
            <a:r>
              <a:t>03-6284-4731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93007"/>
            <a:ext cx="5212080" cy="1828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584447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07820"/>
                </a:solidFill>
              </a:defRPr>
            </a:pPr>
            <a:r>
              <a:t>ランチ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584447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C1C1C"/>
                </a:solidFill>
              </a:defRPr>
            </a:pPr>
            <a:r>
              <a:t>12:00 〜 14:30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42816"/>
            <a:ext cx="5212080" cy="1828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4334255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07820"/>
                </a:solidFill>
              </a:defRPr>
            </a:pPr>
            <a:r>
              <a:t>ディナー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4334255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C1C1C"/>
                </a:solidFill>
              </a:defRPr>
            </a:pPr>
            <a:r>
              <a:t>17:00 〜 23:00（最終入店 21:00）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92623"/>
            <a:ext cx="5212080" cy="1828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5084064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07820"/>
                </a:solidFill>
              </a:defRPr>
            </a:pPr>
            <a:r>
              <a:t>定休日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084064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C1C1C"/>
                </a:solidFill>
              </a:defRPr>
            </a:pPr>
            <a:r>
              <a:t>不定休（年末年始等休業あり）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42431"/>
            <a:ext cx="5212080" cy="1828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" y="583387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07820"/>
                </a:solidFill>
              </a:defRPr>
            </a:pPr>
            <a:r>
              <a:t>個室料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833872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C1C1C"/>
                </a:solidFill>
              </a:defRPr>
            </a:pPr>
            <a:r>
              <a:t>個室チャージ・サービス料なし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492240"/>
            <a:ext cx="5212080" cy="1828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1371600"/>
            <a:ext cx="5532120" cy="516636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1371600"/>
            <a:ext cx="82296" cy="516636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144475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785810"/>
                </a:solidFill>
              </a:defRPr>
            </a:pPr>
            <a:r>
              <a:t>アクセス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1993392"/>
            <a:ext cx="5532120" cy="36576"/>
          </a:xfrm>
          <a:prstGeom prst="rect">
            <a:avLst/>
          </a:prstGeom>
          <a:solidFill>
            <a:srgbClr val="E8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6248" y="2084831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C1C1C"/>
                </a:solidFill>
              </a:defRPr>
            </a:pPr>
            <a:r>
              <a:t>🚇  上野御徒町駅（A5出口）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2084831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 i="0">
                <a:solidFill>
                  <a:srgbClr val="A07820"/>
                </a:solidFill>
              </a:defRPr>
            </a:pPr>
            <a:r>
              <a:t>徒歩 0分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2633472"/>
            <a:ext cx="5303520" cy="1828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56248" y="2761487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C1C1C"/>
                </a:solidFill>
              </a:defRPr>
            </a:pPr>
            <a:r>
              <a:t>🚇  上野広小路駅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2761487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 i="0">
                <a:solidFill>
                  <a:srgbClr val="A07820"/>
                </a:solidFill>
              </a:defRPr>
            </a:pPr>
            <a:r>
              <a:t>徒歩 2分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3310127"/>
            <a:ext cx="5303520" cy="1828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56248" y="3438144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C1C1C"/>
                </a:solidFill>
              </a:defRPr>
            </a:pPr>
            <a:r>
              <a:t>🚇  御徒町駅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3438144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 i="0">
                <a:solidFill>
                  <a:srgbClr val="A07820"/>
                </a:solidFill>
              </a:defRPr>
            </a:pPr>
            <a:r>
              <a:t>徒歩 3分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986783"/>
            <a:ext cx="5303520" cy="1828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56248" y="41148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C1C1C"/>
                </a:solidFill>
              </a:defRPr>
            </a:pPr>
            <a:r>
              <a:t>🚇  上野駅（公園口）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41148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 i="0">
                <a:solidFill>
                  <a:srgbClr val="A07820"/>
                </a:solidFill>
              </a:defRPr>
            </a:pPr>
            <a:r>
              <a:t>徒歩 7分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663440"/>
            <a:ext cx="5303520" cy="1828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09360" y="4800600"/>
            <a:ext cx="5532120" cy="1737360"/>
          </a:xfrm>
          <a:prstGeom prst="rect">
            <a:avLst/>
          </a:prstGeom>
          <a:solidFill>
            <a:srgbClr val="FDF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09360" y="4800600"/>
            <a:ext cx="5532120" cy="54864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48920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A07820"/>
                </a:solidFill>
              </a:defRPr>
            </a:pPr>
            <a:r>
              <a:t>食べログ評価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5230368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 i="0">
                <a:solidFill>
                  <a:srgbClr val="785810"/>
                </a:solidFill>
              </a:defRPr>
            </a:pPr>
            <a:r>
              <a:t>3.56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619963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707070"/>
                </a:solidFill>
              </a:defRPr>
            </a:pPr>
            <a:r>
              <a:t>534件のレビュー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FDF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"/>
            <a:ext cx="64008" cy="96012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785810"/>
                </a:solidFill>
              </a:defRPr>
            </a:pPr>
            <a:r>
              <a:t>コンセプト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686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A07820"/>
                </a:solidFill>
              </a:defRPr>
            </a:pPr>
            <a:r>
              <a:t>CONCEPT &amp; PHILOSOPHY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11457432" cy="914400"/>
          </a:xfrm>
          <a:prstGeom prst="rect">
            <a:avLst/>
          </a:prstGeom>
          <a:solidFill>
            <a:srgbClr val="FDF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11457432" cy="54864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231136"/>
            <a:ext cx="11457432" cy="54864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40"/>
            <a:ext cx="11247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1">
                <a:solidFill>
                  <a:srgbClr val="785810"/>
                </a:solidFill>
              </a:defRPr>
            </a:pPr>
            <a:r>
              <a:t>「 銀座久兵衛の系譜を継ぐ、正統派江戸前鮨 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77440"/>
            <a:ext cx="11457432" cy="1444752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82296" cy="1444752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785616"/>
            <a:ext cx="11457432" cy="3657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48716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785810"/>
                </a:solidFill>
              </a:defRPr>
            </a:pPr>
            <a:r>
              <a:t>江戸前鮨の哲学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299923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C1C1C"/>
                </a:solidFill>
              </a:defRPr>
            </a:pPr>
            <a:r>
              <a:t>旬の素材を主役に、シャリとネタの対話を大切にする伝統の技法。</a:t>
            </a:r>
            <a:br/>
            <a:r>
              <a:t>その日の仕入れで最高のネタを選び抜き、丁寧に仕込む。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58768"/>
            <a:ext cx="11457432" cy="1444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858768"/>
            <a:ext cx="82296" cy="1444752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5266944"/>
            <a:ext cx="11457432" cy="3657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968496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785810"/>
                </a:solidFill>
              </a:defRPr>
            </a:pPr>
            <a:r>
              <a:t>久兵衛の系譜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4805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C1C1C"/>
                </a:solidFill>
              </a:defRPr>
            </a:pPr>
            <a:r>
              <a:t>銀座を代表する名店「久兵衛」の流れを汲む正統派スタイル。</a:t>
            </a:r>
            <a:br/>
            <a:r>
              <a:t>格式と品格を守りながら、上野という地で独自の花を開かせた。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40096"/>
            <a:ext cx="11457432" cy="1444752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340096"/>
            <a:ext cx="82296" cy="1444752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6748272"/>
            <a:ext cx="11457432" cy="3657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5449824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785810"/>
                </a:solidFill>
              </a:defRPr>
            </a:pPr>
            <a:r>
              <a:t>素材への真摯な姿勢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961888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C1C1C"/>
                </a:solidFill>
              </a:defRPr>
            </a:pPr>
            <a:r>
              <a:t>大将自ら毎日市場へ出向き、食材の個性を見極める。</a:t>
            </a:r>
            <a:br/>
            <a:r>
              <a:t>四季折々の旬を、最もおいしい瞬間に提供することにこだわる。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FDF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"/>
            <a:ext cx="64008" cy="96012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785810"/>
                </a:solidFill>
              </a:defRPr>
            </a:pPr>
            <a:r>
              <a:t>店内の雰囲気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686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A07820"/>
                </a:solidFill>
              </a:defRPr>
            </a:pPr>
            <a:r>
              <a:t>ATMOSPHERE &amp; INTERIOR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532120" cy="2560320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82296" cy="256032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895344"/>
            <a:ext cx="5532120" cy="3657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554480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785810"/>
                </a:solidFill>
              </a:defRPr>
            </a:pPr>
            <a:r>
              <a:t>白木のカウンター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2121408"/>
            <a:ext cx="5120640" cy="36576"/>
          </a:xfrm>
          <a:prstGeom prst="rect">
            <a:avLst/>
          </a:prstGeom>
          <a:solidFill>
            <a:srgbClr val="E8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249424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C1C1C"/>
                </a:solidFill>
              </a:defRPr>
            </a:pPr>
            <a:r>
              <a:t>職人の手技が間近で見られる特等席。大将と会話しながら、その日のおすすめを聞ける贅沢な空間。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5532120" cy="2560320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82296" cy="2560320"/>
          </a:xfrm>
          <a:prstGeom prst="rect">
            <a:avLst/>
          </a:prstGeom>
          <a:solidFill>
            <a:srgbClr val="4A7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3895344"/>
            <a:ext cx="5532120" cy="3657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1554480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785810"/>
                </a:solidFill>
              </a:defRPr>
            </a:pPr>
            <a:r>
              <a:t>格子の半個室テーブル席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65392" y="2121408"/>
            <a:ext cx="5120640" cy="36576"/>
          </a:xfrm>
          <a:prstGeom prst="rect">
            <a:avLst/>
          </a:prstGeom>
          <a:solidFill>
            <a:srgbClr val="E8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2249424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C1C1C"/>
                </a:solidFill>
              </a:defRPr>
            </a:pPr>
            <a:r>
              <a:t>格子で仕切られたプライベート感のある席。大切な人との食事や接待にも最適。個室チャージ無し。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160520"/>
            <a:ext cx="5532120" cy="2560320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160520"/>
            <a:ext cx="82296" cy="2560320"/>
          </a:xfrm>
          <a:prstGeom prst="rect">
            <a:avLst/>
          </a:prstGeom>
          <a:solidFill>
            <a:srgbClr val="3A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6684264"/>
            <a:ext cx="5532120" cy="3657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4343400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785810"/>
                </a:solidFill>
              </a:defRPr>
            </a:pPr>
            <a:r>
              <a:t>12階からの眺望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" y="4910328"/>
            <a:ext cx="5120640" cy="36576"/>
          </a:xfrm>
          <a:prstGeom prst="rect">
            <a:avLst/>
          </a:prstGeom>
          <a:solidFill>
            <a:srgbClr val="E8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5038344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C1C1C"/>
                </a:solidFill>
              </a:defRPr>
            </a:pPr>
            <a:r>
              <a:t>上野の街を一望できる高層階。都会の喧騒を離れた、非日常的な静寂の中で鮨を楽しめる。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160520"/>
            <a:ext cx="5532120" cy="2560320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160520"/>
            <a:ext cx="82296" cy="25603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6684264"/>
            <a:ext cx="5532120" cy="3657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4343400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785810"/>
                </a:solidFill>
              </a:defRPr>
            </a:pPr>
            <a:r>
              <a:t>サービス料なし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65392" y="4910328"/>
            <a:ext cx="5120640" cy="36576"/>
          </a:xfrm>
          <a:prstGeom prst="rect">
            <a:avLst/>
          </a:prstGeom>
          <a:solidFill>
            <a:srgbClr val="E8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65392" y="5038344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C1C1C"/>
                </a:solidFill>
              </a:defRPr>
            </a:pPr>
            <a:r>
              <a:t>個室チャージ・サービス料は一切不要。本物の味に集中できる良心的な価格設定が好評。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FDF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"/>
            <a:ext cx="64008" cy="96012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785810"/>
                </a:solidFill>
              </a:defRPr>
            </a:pPr>
            <a:r>
              <a:t>コース・料金一覧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686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A07820"/>
                </a:solidFill>
              </a:defRPr>
            </a:pPr>
            <a:r>
              <a:t>COURSE MENU &amp; PRICING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11457432" cy="59436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</a:defRPr>
            </a:pPr>
            <a:r>
              <a:t>コース名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417320"/>
            <a:ext cx="2240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価格（税込）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79" y="1417320"/>
            <a:ext cx="4983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</a:defRPr>
            </a:pPr>
            <a:r>
              <a:t>特徴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1417320"/>
            <a:ext cx="1143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時間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965960"/>
            <a:ext cx="11457432" cy="804672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743200"/>
            <a:ext cx="11457432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057400"/>
            <a:ext cx="2788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C"/>
                </a:solidFill>
              </a:defRPr>
            </a:pPr>
            <a:r>
              <a:t>榮 江戸前寿司握り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057400"/>
            <a:ext cx="2240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A07820"/>
                </a:solidFill>
              </a:defRPr>
            </a:pPr>
            <a:r>
              <a:t>6,000円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79" y="2057400"/>
            <a:ext cx="4983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C3C3C"/>
                </a:solidFill>
              </a:defRPr>
            </a:pPr>
            <a:r>
              <a:t>握りのみを楽しむシンプルコース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44200" y="2057400"/>
            <a:ext cx="1143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707070"/>
                </a:solidFill>
              </a:defRPr>
            </a:pPr>
            <a:r>
              <a:t>L/D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788920"/>
            <a:ext cx="11457432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566160"/>
            <a:ext cx="11457432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880360"/>
            <a:ext cx="2788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C"/>
                </a:solidFill>
              </a:defRPr>
            </a:pPr>
            <a:r>
              <a:t>ランチ おまかせ上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2880360"/>
            <a:ext cx="2240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A07820"/>
                </a:solidFill>
              </a:defRPr>
            </a:pPr>
            <a:r>
              <a:t>7,000円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79" y="2880360"/>
            <a:ext cx="4983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C3C3C"/>
                </a:solidFill>
              </a:defRPr>
            </a:pPr>
            <a:r>
              <a:t>昼だけの特別おまかせ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44200" y="2880360"/>
            <a:ext cx="1143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707070"/>
                </a:solidFill>
              </a:defRPr>
            </a:pPr>
            <a:r>
              <a:t>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11879"/>
            <a:ext cx="11457432" cy="804672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389120"/>
            <a:ext cx="11457432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703320"/>
            <a:ext cx="2788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C"/>
                </a:solidFill>
              </a:defRPr>
            </a:pPr>
            <a:r>
              <a:t>おためしコース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3703320"/>
            <a:ext cx="2240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A07820"/>
                </a:solidFill>
              </a:defRPr>
            </a:pPr>
            <a:r>
              <a:t>9,000円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79" y="3703320"/>
            <a:ext cx="4983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C3C3C"/>
                </a:solidFill>
              </a:defRPr>
            </a:pPr>
            <a:r>
              <a:t>初めての方にもおすすめの入門コース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44200" y="3703320"/>
            <a:ext cx="1143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707070"/>
                </a:solidFill>
              </a:defRPr>
            </a:pPr>
            <a:r>
              <a:t>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434840"/>
            <a:ext cx="11457432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5212079"/>
            <a:ext cx="11457432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526279"/>
            <a:ext cx="2788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C"/>
                </a:solidFill>
              </a:defRPr>
            </a:pPr>
            <a:r>
              <a:t>おまかせコース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4526279"/>
            <a:ext cx="2240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A07820"/>
                </a:solidFill>
              </a:defRPr>
            </a:pPr>
            <a:r>
              <a:t>12,000〜13,200円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79" y="4526279"/>
            <a:ext cx="4983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C3C3C"/>
                </a:solidFill>
              </a:defRPr>
            </a:pPr>
            <a:r>
              <a:t>つまみと握りのバランスが絶妙な本格コース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44200" y="4526279"/>
            <a:ext cx="1143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707070"/>
                </a:solidFill>
              </a:defRPr>
            </a:pPr>
            <a:r>
              <a:t>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257800"/>
            <a:ext cx="11457432" cy="804672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6035040"/>
            <a:ext cx="11457432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349240"/>
            <a:ext cx="2788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C"/>
                </a:solidFill>
              </a:defRPr>
            </a:pPr>
            <a:r>
              <a:t>緑コース（縁）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37560" y="5349240"/>
            <a:ext cx="2240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A07820"/>
                </a:solidFill>
              </a:defRPr>
            </a:pPr>
            <a:r>
              <a:t>16,500円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79" y="5349240"/>
            <a:ext cx="4983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C3C3C"/>
                </a:solidFill>
              </a:defRPr>
            </a:pPr>
            <a:r>
              <a:t>季節の食材をふんだんに使った上質なおまかせ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44200" y="5349240"/>
            <a:ext cx="1143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707070"/>
                </a:solidFill>
              </a:defRPr>
            </a:pPr>
            <a:r>
              <a:t>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6080760"/>
            <a:ext cx="11457432" cy="804672"/>
          </a:xfrm>
          <a:prstGeom prst="rect">
            <a:avLst/>
          </a:prstGeom>
          <a:solidFill>
            <a:srgbClr val="FDF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5760" y="6858000"/>
            <a:ext cx="11457432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172200"/>
            <a:ext cx="2788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C1C1C"/>
                </a:solidFill>
              </a:defRPr>
            </a:pPr>
            <a:r>
              <a:t>福20000コース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37560" y="6172200"/>
            <a:ext cx="2240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785810"/>
                </a:solidFill>
              </a:defRPr>
            </a:pPr>
            <a:r>
              <a:t>20,000円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79" y="6172200"/>
            <a:ext cx="49834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C3C3C"/>
                </a:solidFill>
              </a:defRPr>
            </a:pPr>
            <a:r>
              <a:t>最高峰の食材で仕立てる、究極のおまかせ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44200" y="6172200"/>
            <a:ext cx="1143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707070"/>
                </a:solidFill>
              </a:defRPr>
            </a:pPr>
            <a:r>
              <a:t>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7395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707070"/>
                </a:solidFill>
              </a:defRPr>
            </a:pPr>
            <a:r>
              <a:t>L=ランチ　D=ディナー　※料金は税込・サービス料なし。内容は仕入れ状況により変わります。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FDF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"/>
            <a:ext cx="64008" cy="96012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785810"/>
                </a:solidFill>
              </a:defRPr>
            </a:pPr>
            <a:r>
              <a:t>おまかせコースの流れ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686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A07820"/>
                </a:solidFill>
              </a:defRPr>
            </a:pPr>
            <a:r>
              <a:t>OMAKASE COURSE FLOW  ※ある日の一例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3749039" cy="1783080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82296" cy="178308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072384"/>
            <a:ext cx="3749039" cy="3657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453895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A07820"/>
                </a:solidFill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481328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785810"/>
                </a:solidFill>
              </a:defRPr>
            </a:pPr>
            <a:r>
              <a:t>先付け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221991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C3C3C"/>
                </a:solidFill>
              </a:defRPr>
            </a:pPr>
            <a:r>
              <a:t>季節の前菜で食欲を誘う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72968"/>
            <a:ext cx="3749039" cy="1783080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172968"/>
            <a:ext cx="82296" cy="178308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919472"/>
            <a:ext cx="3749039" cy="3657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300984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A07820"/>
                </a:solidFill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3328415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785810"/>
                </a:solidFill>
              </a:defRPr>
            </a:pPr>
            <a:r>
              <a:t>握り（前半）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069079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C3C3C"/>
                </a:solidFill>
              </a:defRPr>
            </a:pPr>
            <a:r>
              <a:t>中トロ・のどぐろ・シロイカなど4カン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020056"/>
            <a:ext cx="3749039" cy="1783080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020056"/>
            <a:ext cx="82296" cy="178308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6766560"/>
            <a:ext cx="3749039" cy="3657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148072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A07820"/>
                </a:solidFill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5175504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785810"/>
                </a:solidFill>
              </a:defRPr>
            </a:pPr>
            <a:r>
              <a:t>焼き物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916168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C3C3C"/>
                </a:solidFill>
              </a:defRPr>
            </a:pPr>
            <a:r>
              <a:t>蒸し鮑の肝ソース和えなど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78808" y="1325880"/>
            <a:ext cx="3749039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78808" y="1325880"/>
            <a:ext cx="82296" cy="178308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78808" y="3072384"/>
            <a:ext cx="3749039" cy="3657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79976" y="1453895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A07820"/>
                </a:solidFill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11496" y="1481328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785810"/>
                </a:solidFill>
              </a:defRPr>
            </a:pPr>
            <a:r>
              <a:t>子丼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9976" y="2221991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C3C3C"/>
                </a:solidFill>
              </a:defRPr>
            </a:pPr>
            <a:r>
              <a:t>いくら雲丹の贅沢なひと椀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78808" y="3172968"/>
            <a:ext cx="3749039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78808" y="3172968"/>
            <a:ext cx="82296" cy="178308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78808" y="4919472"/>
            <a:ext cx="3749039" cy="3657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9976" y="3300984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A07820"/>
                </a:solidFill>
              </a:defRPr>
            </a:pPr>
            <a: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1496" y="3328415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785810"/>
                </a:solidFill>
              </a:defRPr>
            </a:pPr>
            <a:r>
              <a:t>握り（中盤）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79976" y="4069079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C3C3C"/>
                </a:solidFill>
              </a:defRPr>
            </a:pPr>
            <a:r>
              <a:t>馬糞雲丹・赤身漬け・車海老など4カン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78808" y="5020056"/>
            <a:ext cx="3749039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78808" y="5020056"/>
            <a:ext cx="82296" cy="178308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78808" y="6766560"/>
            <a:ext cx="3749039" cy="3657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79976" y="5148072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A07820"/>
                </a:solidFill>
              </a:defRPr>
            </a:pPr>
            <a: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11496" y="5175504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785810"/>
                </a:solidFill>
              </a:defRPr>
            </a:pPr>
            <a:r>
              <a:t>小鉢 + 茶碗蒸し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79976" y="5916168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C3C3C"/>
                </a:solidFill>
              </a:defRPr>
            </a:pPr>
            <a:r>
              <a:t>繊細な仕事が光る箸休め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91856" y="1325880"/>
            <a:ext cx="3749039" cy="1783080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991856" y="1325880"/>
            <a:ext cx="82296" cy="178308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991856" y="3072384"/>
            <a:ext cx="3749039" cy="3657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93024" y="1453895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A07820"/>
                </a:solidFill>
              </a:defRPr>
            </a:pPr>
            <a:r>
              <a:t>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24544" y="1481328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785810"/>
                </a:solidFill>
              </a:defRPr>
            </a:pPr>
            <a:r>
              <a:t>握り（後半）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93024" y="2221991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C3C3C"/>
                </a:solidFill>
              </a:defRPr>
            </a:pPr>
            <a:r>
              <a:t>金目鯛・炙り大トロ・穴子など4カン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91856" y="3172968"/>
            <a:ext cx="3749039" cy="1783080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991856" y="3172968"/>
            <a:ext cx="82296" cy="178308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991856" y="4919472"/>
            <a:ext cx="3749039" cy="3657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93024" y="3300984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A07820"/>
                </a:solidFill>
              </a:defRPr>
            </a:pPr>
            <a:r>
              <a:t>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24544" y="3328415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785810"/>
                </a:solidFill>
              </a:defRPr>
            </a:pPr>
            <a:r>
              <a:t>巻物・玉子・止椀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4069079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C3C3C"/>
                </a:solidFill>
              </a:defRPr>
            </a:pPr>
            <a:r>
              <a:t>コースの締めくくり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91856" y="5020056"/>
            <a:ext cx="3749039" cy="1783080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991856" y="5020056"/>
            <a:ext cx="82296" cy="178308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991856" y="6766560"/>
            <a:ext cx="3749039" cy="3657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93024" y="5148072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A07820"/>
                </a:solidFill>
              </a:defRPr>
            </a:pPr>
            <a:r>
              <a:t>09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24544" y="5175504"/>
            <a:ext cx="26974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785810"/>
                </a:solidFill>
              </a:defRPr>
            </a:pPr>
            <a:r>
              <a:t>デザート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93024" y="5916168"/>
            <a:ext cx="340156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C3C3C"/>
                </a:solidFill>
              </a:defRPr>
            </a:pPr>
            <a:r>
              <a:t>季節のひと品で余韻を楽しむ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FDF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"/>
            <a:ext cx="64008" cy="96012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785810"/>
                </a:solidFill>
              </a:defRPr>
            </a:pPr>
            <a:r>
              <a:t>代表的なネタ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686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A07820"/>
                </a:solidFill>
              </a:defRPr>
            </a:pPr>
            <a:r>
              <a:t>SIGNATURE INGREDIENTS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2816352" cy="1664208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25880"/>
            <a:ext cx="2816352" cy="82296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953512"/>
            <a:ext cx="2816352" cy="3657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08760"/>
            <a:ext cx="26151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C1C1C"/>
                </a:solidFill>
              </a:defRPr>
            </a:pPr>
            <a:r>
              <a:t>中トロ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67128"/>
            <a:ext cx="261518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C3C3C"/>
                </a:solidFill>
              </a:defRPr>
            </a:pPr>
            <a:r>
              <a:t>脂の旨味と赤身のコクの絶妙なバランス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91256" y="1325880"/>
            <a:ext cx="2816352" cy="1664208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91256" y="1325880"/>
            <a:ext cx="2816352" cy="82296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91256" y="2953512"/>
            <a:ext cx="2816352" cy="3657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28416" y="1508760"/>
            <a:ext cx="26151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C1C1C"/>
                </a:solidFill>
              </a:defRPr>
            </a:pPr>
            <a:r>
              <a:t>炙り大トロ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8416" y="2167128"/>
            <a:ext cx="261518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C3C3C"/>
                </a:solidFill>
              </a:defRPr>
            </a:pPr>
            <a:r>
              <a:t>炭塩で仕上げる贅沢な一カン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62472" y="1325880"/>
            <a:ext cx="2816352" cy="1664208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62472" y="1325880"/>
            <a:ext cx="2816352" cy="82296"/>
          </a:xfrm>
          <a:prstGeom prst="rect">
            <a:avLst/>
          </a:prstGeom>
          <a:solidFill>
            <a:srgbClr val="B06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62472" y="2953512"/>
            <a:ext cx="2816352" cy="3657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2" y="1508760"/>
            <a:ext cx="26151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C1C1C"/>
                </a:solidFill>
              </a:defRPr>
            </a:pPr>
            <a:r>
              <a:t>のどぐろ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2167128"/>
            <a:ext cx="261518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C3C3C"/>
                </a:solidFill>
              </a:defRPr>
            </a:pPr>
            <a:r>
              <a:t>山陰の高級魚。脂の乗りが抜群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33688" y="1325880"/>
            <a:ext cx="2816352" cy="1664208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33688" y="1325880"/>
            <a:ext cx="2816352" cy="82296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33688" y="2953512"/>
            <a:ext cx="2816352" cy="3657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0848" y="1508760"/>
            <a:ext cx="26151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C1C1C"/>
                </a:solidFill>
              </a:defRPr>
            </a:pPr>
            <a:r>
              <a:t>赤身漬け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0848" y="2167128"/>
            <a:ext cx="261518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C3C3C"/>
                </a:solidFill>
              </a:defRPr>
            </a:pPr>
            <a:r>
              <a:t>江戸前の真髄。醤油漬けで旨味を凝縮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044952"/>
            <a:ext cx="2816352" cy="1664208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3044952"/>
            <a:ext cx="2816352" cy="82296"/>
          </a:xfrm>
          <a:prstGeom prst="rect">
            <a:avLst/>
          </a:prstGeom>
          <a:solidFill>
            <a:srgbClr val="507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672584"/>
            <a:ext cx="2816352" cy="3657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227832"/>
            <a:ext cx="26151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C1C1C"/>
                </a:solidFill>
              </a:defRPr>
            </a:pPr>
            <a:r>
              <a:t>シロイカ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886200"/>
            <a:ext cx="261518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C3C3C"/>
                </a:solidFill>
              </a:defRPr>
            </a:pPr>
            <a:r>
              <a:t>竹炭塩で仕上げる透明感ある甘み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91256" y="3044952"/>
            <a:ext cx="2816352" cy="1664208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91256" y="3044952"/>
            <a:ext cx="2816352" cy="82296"/>
          </a:xfrm>
          <a:prstGeom prst="rect">
            <a:avLst/>
          </a:prstGeom>
          <a:solidFill>
            <a:srgbClr val="407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91256" y="4672584"/>
            <a:ext cx="2816352" cy="3657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28416" y="3227832"/>
            <a:ext cx="26151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C1C1C"/>
                </a:solidFill>
              </a:defRPr>
            </a:pPr>
            <a:r>
              <a:t>蒸し鮑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28416" y="3886200"/>
            <a:ext cx="261518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C3C3C"/>
                </a:solidFill>
              </a:defRPr>
            </a:pPr>
            <a:r>
              <a:t>肝ソース和え。職人技の結晶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62472" y="3044952"/>
            <a:ext cx="2816352" cy="1664208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62472" y="3044952"/>
            <a:ext cx="2816352" cy="82296"/>
          </a:xfrm>
          <a:prstGeom prst="rect">
            <a:avLst/>
          </a:prstGeom>
          <a:solidFill>
            <a:srgbClr val="A08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62472" y="4672584"/>
            <a:ext cx="2816352" cy="3657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99632" y="3227832"/>
            <a:ext cx="26151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C1C1C"/>
                </a:solidFill>
              </a:defRPr>
            </a:pPr>
            <a:r>
              <a:t>馬糞雲丹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99632" y="3886200"/>
            <a:ext cx="261518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C3C3C"/>
                </a:solidFill>
              </a:defRPr>
            </a:pPr>
            <a:r>
              <a:t>濃厚な甘みと磯の香りが広がる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33688" y="3044952"/>
            <a:ext cx="2816352" cy="1664208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933688" y="3044952"/>
            <a:ext cx="2816352" cy="82296"/>
          </a:xfrm>
          <a:prstGeom prst="rect">
            <a:avLst/>
          </a:prstGeom>
          <a:solidFill>
            <a:srgbClr val="A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933688" y="4672584"/>
            <a:ext cx="2816352" cy="3657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70848" y="3227832"/>
            <a:ext cx="26151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C1C1C"/>
                </a:solidFill>
              </a:defRPr>
            </a:pPr>
            <a:r>
              <a:t>車海老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70848" y="3886200"/>
            <a:ext cx="261518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C3C3C"/>
                </a:solidFill>
              </a:defRPr>
            </a:pPr>
            <a:r>
              <a:t>海老味噌添え。重層的な旨味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764024"/>
            <a:ext cx="2816352" cy="1664208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0040" y="4764024"/>
            <a:ext cx="2816352" cy="82296"/>
          </a:xfrm>
          <a:prstGeom prst="rect">
            <a:avLst/>
          </a:prstGeom>
          <a:solidFill>
            <a:srgbClr val="3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0040" y="6391656"/>
            <a:ext cx="2816352" cy="3657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4946904"/>
            <a:ext cx="26151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C1C1C"/>
                </a:solidFill>
              </a:defRPr>
            </a:pPr>
            <a:r>
              <a:t>かんぱち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5605272"/>
            <a:ext cx="261518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C3C3C"/>
                </a:solidFill>
              </a:defRPr>
            </a:pPr>
            <a:r>
              <a:t>コリコリ食感と淡白な旨味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91256" y="4764024"/>
            <a:ext cx="2816352" cy="1664208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191256" y="4764024"/>
            <a:ext cx="2816352" cy="82296"/>
          </a:xfrm>
          <a:prstGeom prst="rect">
            <a:avLst/>
          </a:prstGeom>
          <a:solidFill>
            <a:srgbClr val="C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191256" y="6391656"/>
            <a:ext cx="2816352" cy="3657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28416" y="4946904"/>
            <a:ext cx="26151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C1C1C"/>
                </a:solidFill>
              </a:defRPr>
            </a:pPr>
            <a:r>
              <a:t>金目鯛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28416" y="5605272"/>
            <a:ext cx="261518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C3C3C"/>
                </a:solidFill>
              </a:defRPr>
            </a:pPr>
            <a:r>
              <a:t>皮目の香ばしさと上品な脂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62472" y="4764024"/>
            <a:ext cx="2816352" cy="1664208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062472" y="4764024"/>
            <a:ext cx="2816352" cy="82296"/>
          </a:xfrm>
          <a:prstGeom prst="rect">
            <a:avLst/>
          </a:prstGeom>
          <a:solidFill>
            <a:srgbClr val="705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062472" y="6391656"/>
            <a:ext cx="2816352" cy="3657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99632" y="4946904"/>
            <a:ext cx="26151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C1C1C"/>
                </a:solidFill>
              </a:defRPr>
            </a:pPr>
            <a:r>
              <a:t>穴子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99632" y="5605272"/>
            <a:ext cx="261518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C3C3C"/>
                </a:solidFill>
              </a:defRPr>
            </a:pPr>
            <a:r>
              <a:t>ふっくら柔らか。ツメとの相性が抜群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33688" y="4764024"/>
            <a:ext cx="2816352" cy="1664208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933688" y="4764024"/>
            <a:ext cx="2816352" cy="82296"/>
          </a:xfrm>
          <a:prstGeom prst="rect">
            <a:avLst/>
          </a:prstGeom>
          <a:solidFill>
            <a:srgbClr val="8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933688" y="6391656"/>
            <a:ext cx="2816352" cy="3657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070848" y="4946904"/>
            <a:ext cx="26151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C1C1C"/>
                </a:solidFill>
              </a:defRPr>
            </a:pPr>
            <a:r>
              <a:t>いくら雲丹丼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70848" y="5605272"/>
            <a:ext cx="261518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3C3C3C"/>
                </a:solidFill>
              </a:defRPr>
            </a:pPr>
            <a:r>
              <a:t>子丼として供される贅沢な一品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FDF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"/>
            <a:ext cx="64008" cy="96012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785810"/>
                </a:solidFill>
              </a:defRPr>
            </a:pPr>
            <a:r>
              <a:t>大将について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686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A07820"/>
                </a:solidFill>
              </a:defRPr>
            </a:pPr>
            <a:r>
              <a:t>THE CHEF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11457432" cy="1005840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82296" cy="100584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350008"/>
            <a:ext cx="11457432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499616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A07820"/>
                </a:solidFill>
              </a:defRPr>
            </a:pPr>
            <a:r>
              <a:t>職人歴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499616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C1C1C"/>
                </a:solidFill>
              </a:defRPr>
            </a:pPr>
            <a:r>
              <a:t>25年以上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04872"/>
            <a:ext cx="1145743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404872"/>
            <a:ext cx="82296" cy="100584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383280"/>
            <a:ext cx="11457432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532888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A07820"/>
                </a:solidFill>
              </a:defRPr>
            </a:pPr>
            <a:r>
              <a:t>修業先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532888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C1C1C"/>
                </a:solidFill>
              </a:defRPr>
            </a:pPr>
            <a:r>
              <a:t>銀座久兵衛系　老舗寿司店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38144"/>
            <a:ext cx="11457432" cy="1005840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438144"/>
            <a:ext cx="82296" cy="100584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416552"/>
            <a:ext cx="11457432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3566160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A07820"/>
                </a:solidFill>
              </a:defRPr>
            </a:pPr>
            <a:r>
              <a:t>スタイル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566160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C1C1C"/>
                </a:solidFill>
              </a:defRPr>
            </a:pPr>
            <a:r>
              <a:t>正統派江戸前鮨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471416"/>
            <a:ext cx="11457432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471416"/>
            <a:ext cx="82296" cy="100584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5449824"/>
            <a:ext cx="11457432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4599431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A07820"/>
                </a:solidFill>
              </a:defRPr>
            </a:pPr>
            <a:r>
              <a:t>こだわり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599431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C1C1C"/>
                </a:solidFill>
              </a:defRPr>
            </a:pPr>
            <a:r>
              <a:t>毎日自ら市場へ出向き、最高の素材を選び抜く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669279"/>
            <a:ext cx="11457432" cy="1170432"/>
          </a:xfrm>
          <a:prstGeom prst="rect">
            <a:avLst/>
          </a:prstGeom>
          <a:solidFill>
            <a:srgbClr val="FDF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5669279"/>
            <a:ext cx="11457432" cy="54864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6784848"/>
            <a:ext cx="11457432" cy="54864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797296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 i="1">
                <a:solidFill>
                  <a:srgbClr val="785810"/>
                </a:solidFill>
              </a:defRPr>
            </a:pPr>
            <a:r>
              <a:t>「 握りにもつまみにも手間ひまかけ、緩急自在の味わいで</a:t>
            </a:r>
            <a:br/>
            <a:r>
              <a:t>お客様を江戸前の世界へご案内する 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FDF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"/>
            <a:ext cx="64008" cy="96012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785810"/>
                </a:solidFill>
              </a:defRPr>
            </a:pPr>
            <a:r>
              <a:t>口コミ・評判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686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A07820"/>
                </a:solidFill>
              </a:defRPr>
            </a:pPr>
            <a:r>
              <a:t>REVIEWS &amp; REPUTATION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200400" cy="2743200"/>
          </a:xfrm>
          <a:prstGeom prst="rect">
            <a:avLst/>
          </a:prstGeom>
          <a:solidFill>
            <a:srgbClr val="FDF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3200400" cy="54864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A07820"/>
                </a:solidFill>
              </a:defRPr>
            </a:pPr>
            <a:r>
              <a:t>食べログ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74519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 i="0">
                <a:solidFill>
                  <a:srgbClr val="785810"/>
                </a:solidFill>
              </a:defRPr>
            </a:pPr>
            <a:r>
              <a:t>3.56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707070"/>
                </a:solidFill>
              </a:defRPr>
            </a:pPr>
            <a:r>
              <a:t>534件のレビュー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1371600"/>
            <a:ext cx="8074152" cy="914400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49039" y="1371600"/>
            <a:ext cx="82296" cy="91440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49039" y="2258568"/>
            <a:ext cx="8074152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05072" y="146304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785810"/>
                </a:solidFill>
              </a:defRPr>
            </a:pPr>
            <a:r>
              <a:t>コストパフォーマンス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5072" y="1874519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C1C1C"/>
                </a:solidFill>
              </a:defRPr>
            </a:pPr>
            <a:r>
              <a:t>1万円以下でも本格江戸前鮨が楽しめると高評価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39" y="2313432"/>
            <a:ext cx="8074152" cy="914400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49039" y="2313432"/>
            <a:ext cx="82296" cy="91440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49039" y="3200400"/>
            <a:ext cx="8074152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05072" y="240487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785810"/>
                </a:solidFill>
              </a:defRPr>
            </a:pPr>
            <a:r>
              <a:t>職人技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05072" y="2816352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C1C1C"/>
                </a:solidFill>
              </a:defRPr>
            </a:pPr>
            <a:r>
              <a:t>つまみと握り、両方に手間をかける丁寧な仕事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39" y="3255264"/>
            <a:ext cx="8074152" cy="914400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49039" y="3255264"/>
            <a:ext cx="82296" cy="91440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49039" y="4142232"/>
            <a:ext cx="8074152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05072" y="3346704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785810"/>
                </a:solidFill>
              </a:defRPr>
            </a:pPr>
            <a:r>
              <a:t>雰囲気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5072" y="3758184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C1C1C"/>
                </a:solidFill>
              </a:defRPr>
            </a:pPr>
            <a:r>
              <a:t>個室チャージなしで高級感のある落ち着いた空間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49039" y="4197096"/>
            <a:ext cx="8074152" cy="914400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749039" y="4197096"/>
            <a:ext cx="82296" cy="91440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49039" y="5084064"/>
            <a:ext cx="8074152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05072" y="4288536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785810"/>
                </a:solidFill>
              </a:defRPr>
            </a:pPr>
            <a:r>
              <a:t>アクセス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05072" y="4700016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C1C1C"/>
                </a:solidFill>
              </a:defRPr>
            </a:pPr>
            <a:r>
              <a:t>上野御徒町駅から徒歩0分の抜群の立地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120640"/>
            <a:ext cx="11457432" cy="54864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52303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785810"/>
                </a:solidFill>
              </a:defRPr>
            </a:pPr>
            <a:r>
              <a:t>お客様の声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42432"/>
            <a:ext cx="11457432" cy="347472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77900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3C3C3C"/>
                </a:solidFill>
              </a:defRPr>
            </a:pPr>
            <a:r>
              <a:t>「1万円以下でこれだけの鮨が食べられるのは奇跡。またリピートします！」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6126480"/>
            <a:ext cx="11457432" cy="347472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163056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3C3C3C"/>
                </a:solidFill>
              </a:defRPr>
            </a:pPr>
            <a:r>
              <a:t>「のどぐろと炙り大トロが絶品。職人さんとの会話も楽しかった。」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6510528"/>
            <a:ext cx="11457432" cy="347472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547104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3C3C3C"/>
                </a:solidFill>
              </a:defRPr>
            </a:pPr>
            <a:r>
              <a:t>「上野でこんな本格派があるとは。接待にも使えるクオリティ。」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FDF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"/>
            <a:ext cx="64008" cy="96012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785810"/>
                </a:solidFill>
              </a:defRPr>
            </a:pPr>
            <a:r>
              <a:t>まとめ・予約方法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686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A07820"/>
                </a:solidFill>
              </a:defRPr>
            </a:pPr>
            <a:r>
              <a:t>SUMMARY &amp; RESERVATION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11457432" cy="1143000"/>
          </a:xfrm>
          <a:prstGeom prst="rect">
            <a:avLst/>
          </a:prstGeom>
          <a:solidFill>
            <a:srgbClr val="FDF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11457432" cy="54864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459736"/>
            <a:ext cx="11457432" cy="54864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C1C1C"/>
                </a:solidFill>
              </a:defRPr>
            </a:pPr>
            <a:r>
              <a:t>銀座久兵衛の系譜を継ぐ正統派江戸前鮨を、上野で・リーズナブルに・個室チャージなしで楽しめる隠れた名店。</a:t>
            </a:r>
            <a:br/>
            <a:r>
              <a:t>職人歴25年の大将が自ら選び抜いた旬の素材を最高の技術で提供。コスパ・品質・雰囲気の三拍子が揃う。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06040"/>
            <a:ext cx="5394960" cy="3931920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606040"/>
            <a:ext cx="82296" cy="393192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69748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785810"/>
                </a:solidFill>
              </a:defRPr>
            </a:pPr>
            <a:r>
              <a:t>おすすめポイント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64408"/>
            <a:ext cx="5212080" cy="36576"/>
          </a:xfrm>
          <a:prstGeom prst="rect">
            <a:avLst/>
          </a:prstGeom>
          <a:solidFill>
            <a:srgbClr val="E8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36499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C1C1C"/>
                </a:solidFill>
              </a:defRPr>
            </a:pPr>
            <a:r>
              <a:t>✦  6,000円〜本格江戸前鮨を体験できる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84048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C1C1C"/>
                </a:solidFill>
              </a:defRPr>
            </a:pPr>
            <a:r>
              <a:t>✦  個室チャージ・サービス料なし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431596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C1C1C"/>
                </a:solidFill>
              </a:defRPr>
            </a:pPr>
            <a:r>
              <a:t>✦  上野御徒町駅徒歩0分のアクセス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791456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C1C1C"/>
                </a:solidFill>
              </a:defRPr>
            </a:pPr>
            <a:r>
              <a:t>✦  接待・記念日・デートに最適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5266944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C1C1C"/>
                </a:solidFill>
              </a:defRPr>
            </a:pPr>
            <a:r>
              <a:t>✦  四季折々の旬ネタが楽しめる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5742431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C1C1C"/>
                </a:solidFill>
              </a:defRPr>
            </a:pPr>
            <a:r>
              <a:t>✦  食べログ評価3.56（534件）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606040"/>
            <a:ext cx="5605272" cy="3931920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606040"/>
            <a:ext cx="82296" cy="393192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269748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785810"/>
                </a:solidFill>
              </a:defRPr>
            </a:pPr>
            <a:r>
              <a:t>予約・連絡先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264408"/>
            <a:ext cx="5394960" cy="36576"/>
          </a:xfrm>
          <a:prstGeom prst="rect">
            <a:avLst/>
          </a:prstGeom>
          <a:solidFill>
            <a:srgbClr val="E8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3364992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07820"/>
                </a:solidFill>
              </a:defRPr>
            </a:pPr>
            <a:r>
              <a:t>電話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364992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C1C1C"/>
                </a:solidFill>
              </a:defRPr>
            </a:pPr>
            <a:r>
              <a:t>03-6284-4731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059936"/>
            <a:ext cx="5394960" cy="1828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4078224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07820"/>
                </a:solidFill>
              </a:defRPr>
            </a:pPr>
            <a:r>
              <a:t>住所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078224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C1C1C"/>
                </a:solidFill>
              </a:defRPr>
            </a:pPr>
            <a:r>
              <a:t>東京都台東区上野4-4-5</a:t>
            </a:r>
            <a:br/>
            <a:r>
              <a:t>c-roadビル12F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773168"/>
            <a:ext cx="5394960" cy="1828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4791456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07820"/>
                </a:solidFill>
              </a:defRPr>
            </a:pPr>
            <a:r>
              <a:t>アクセス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791456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C1C1C"/>
                </a:solidFill>
              </a:defRPr>
            </a:pPr>
            <a:r>
              <a:t>上野御徒町駅A5出口 徒歩0分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5486400"/>
            <a:ext cx="5394960" cy="1828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4808" y="550468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07820"/>
                </a:solidFill>
              </a:defRPr>
            </a:pPr>
            <a:r>
              <a:t>Instagram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5504688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C1C1C"/>
                </a:solidFill>
              </a:defRPr>
            </a:pPr>
            <a:r>
              <a:t>@ueno_sakae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6199632"/>
            <a:ext cx="5394960" cy="1828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64808" y="6217920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A07820"/>
                </a:solidFill>
              </a:defRPr>
            </a:pPr>
            <a:r>
              <a:t>予約サイト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6217920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C1C1C"/>
                </a:solidFill>
              </a:defRPr>
            </a:pPr>
            <a:r>
              <a:t>食べログ・一休.comレストラン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6912864"/>
            <a:ext cx="5394960" cy="1828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DF8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61111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A07820"/>
                </a:solidFill>
              </a:defRPr>
            </a:pPr>
            <a:r>
              <a:t>上野 榮（さかえ）　─　銀座久兵衛の系譜　正統派江戸前鮨　─　東京都台東区上野4-4-5 c-roadビル12F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