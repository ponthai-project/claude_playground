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800" b="0" i="0">
                <a:solidFill>
                  <a:srgbClr val="FFFFFF"/>
                </a:solidFill>
              </a:defRPr>
            </a:pPr>
            <a:r>
              <a:t>AWS Certified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4800" b="1" i="0">
                <a:solidFill>
                  <a:srgbClr val="FF9900"/>
                </a:solidFill>
              </a:defRPr>
            </a:pPr>
            <a:r>
              <a:t>AI Practitioner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200" b="0" i="0">
                <a:solidFill>
                  <a:srgbClr val="F5F5F5"/>
                </a:solidFill>
              </a:defRPr>
            </a:pPr>
            <a:r>
              <a:t>AIF-C01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200" b="0" i="0">
                <a:solidFill>
                  <a:srgbClr val="FFFFFF"/>
                </a:solidFill>
              </a:defRPr>
            </a:pPr>
            <a:r>
              <a:t>試験対策ガイド ─ 全体像を掴む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600" b="0" i="0">
                <a:solidFill>
                  <a:srgbClr val="F5F5F5"/>
                </a:solidFill>
              </a:defRPr>
            </a:pPr>
            <a:r>
              <a:t>2026年版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試験概要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受験料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4173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$100（約16,500円）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93392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試験時間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03911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90分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15184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60904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問題数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6090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65問（採点対象50問＋ノースコア15問）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36976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82696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合格ライン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282696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700点 / 1,000点満点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58768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904488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レベル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90448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Foundational（最も基礎的なレベル）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80560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52628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前提条件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262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なし（経験6ヶ月未満でも可）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102352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148072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対象者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51480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エンジニア・非エンジニア（PM・ビジネス職）問わず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724144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69864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出題形式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76986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単一選択／複数選択／順序並べ替え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出題ドメインと配点（5ドメイン）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1: AI/MLの基礎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4630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4898571" cy="5943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44891" y="15544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88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2: 生成AIの基礎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3774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377440"/>
            <a:ext cx="5878285" cy="594360"/>
          </a:xfrm>
          <a:prstGeom prst="rect">
            <a:avLst/>
          </a:prstGeom>
          <a:solidFill>
            <a:srgbClr val="1A5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24605" y="24688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1A5E9A"/>
                </a:solidFill>
              </a:defRPr>
            </a:pPr>
            <a:r>
              <a:t>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3: 基盤モデルの活用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2918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3291840"/>
            <a:ext cx="6858000" cy="594360"/>
          </a:xfrm>
          <a:prstGeom prst="rect">
            <a:avLst/>
          </a:prstGeom>
          <a:solidFill>
            <a:srgbClr val="0D7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0" y="33832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0D7E6E"/>
                </a:solidFill>
              </a:defRPr>
            </a:pPr>
            <a: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2976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4: 責任あるAI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42062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4206240"/>
            <a:ext cx="3429000" cy="594360"/>
          </a:xfrm>
          <a:prstGeom prst="rect">
            <a:avLst/>
          </a:prstGeom>
          <a:solidFill>
            <a:srgbClr val="8B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2976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8B2F00"/>
                </a:solidFill>
              </a:defRPr>
            </a:pPr>
            <a:r>
              <a:t>14%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2120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5: セキュリティ・コンプライアンス・ガバナンス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51206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0" y="5120640"/>
            <a:ext cx="3429000" cy="594360"/>
          </a:xfrm>
          <a:prstGeom prst="rect">
            <a:avLst/>
          </a:prstGeom>
          <a:solidFill>
            <a:srgbClr val="6B21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52120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6B216B"/>
                </a:solidFill>
              </a:defRPr>
            </a:pPr>
            <a:r>
              <a:t>14%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1：AI / ML の基礎  ─ 20%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MLの基本概念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機械学習の種類：教師あり／なし／強化学習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主要アルゴリズム：回帰・分類・クラスタリング・NN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モデル評価指標：精度・適合率・再現率・F1・RMSE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過学習・過少学習・バイアス・バリアンス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データ前処理：正規化・欠損値処理・特徴量エンジニアリング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SageMaker（モデル開発・訓練・デプロイ）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Rekognition（画像・動画認識）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Comprehend（テキスト分析・NLP）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Forecast（時系列予測）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Personalize（レコメンデーション）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Textract（OCR・ドキュメント解析）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ポイント：各アルゴリズムの「どんな問題に使うか」を整理すると得点しやすい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2：生成AI の基礎  ─ 24%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生成AI基本概念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大規模言語モデル（LLM）の仕組み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Transformer・アテンション機構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トークン・コンテキストウィンドウ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プロンプトエンジニアリング（Zero-shot / Few-shot）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ファインチューニング vs RAG（検索拡張生成）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ハルシネーション（幻覚）とその対策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拡散モデル・GANによる画像生成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Bedrock（基盤モデルAPIサービス）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Titan（AWS独自モデル群）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Anthropic Claude / Meta Llama（Bedrock経由）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Q（ビジネス向けAIアシスタント）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CodeWhisperer（コード補完）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Stable Diffusion（画像生成）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ポイント：RAGとファインチューニングの使い分け・Bedrockの役割を押さえる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3：基盤モデルの活用  ─ 28%（最重要）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活用パターンと概念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Foundation Model（FM）の選び方・評価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モデルカスタマイズ：Fine-tuning / Continued Pre-training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RAG（Retrieval-Augmented Generation）構築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ベクトルデータベースの活用（埋め込みベクトル）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エージェント型AI・ツール使用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モデル評価：BLEU・ROUGE・人間評価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コスト最適化（モデル選択・推論コスト）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Bedrock（FMのAPI呼び出し・管理）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Knowledge Bases（RAG構築）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Agents（エージェント構築）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Guardrails（安全フィルタ）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OpenSearch（ベクトル検索）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Kendra（エンタープライズ検索）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Lambda（推論エンドポイント連携）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1" i="0">
                <a:solidFill>
                  <a:srgbClr val="232F3E"/>
                </a:solidFill>
              </a:defRPr>
            </a:pPr>
            <a:r>
              <a:t>★★ 最重要ドメイン（28%）！ Bedrock関連サービスを完全に理解すること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4：責任ある AI  ─ 14%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責任あるAIの6原則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公平性（Fairness）：バイアスの特定と軽減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透明性（Transparency）：意思決定の説明可能性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説明可能性（Explainability）：XAI手法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プライバシー保護：データ匿名化・差分プライバシー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堅牢性（Robustness）：敵対的攻撃への耐性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ヒューマン・イン・ザ・ループ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AIガバナンスフレームワーク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主要AWSサービス・ツール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 Clarify（バイアス検出）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 Model Monitor（モデル監視）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Guardrails（有害コンテンツフィルタ）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AI Service Cards（透明性ドキュメント）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Responsible AI Policy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4297680"/>
            <a:ext cx="5943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438912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ベストプラクティス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モデルカードの作成・公開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バイアス監査の定期実施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ステークホルダーへの説明責任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ポイント：各原則の定義と、それに対応するAWSサービスをセットで覚える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5：セキュリティ・コンプライアンス・ガバナンス  ─ 14%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セキュリティ基礎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IAM（最小権限の原則・ロールベースアクセス）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データ暗号化（保存時・転送時）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VPC・プライベートエンドポイント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監査ログ・CloudTrail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インシデント対応・脅威検出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コンプライアンス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GDPR・HIPAA・SOC 2・ISO 27001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データ主権・残留規制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Artifact（コンプライアンスレポート）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Config（設定コンプライアンス）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Audit Manager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ガバナンス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AIガバナンスポリシーの策定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モデルライフサイクル管理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リスクアセスメント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Organizations・SCP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Well-Architected Framework（ML Lens）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93776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983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ポイント：AWSの共有責任モデル（お客様 vs AWS）のAI文脈での理解が重要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受験方法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116128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申込手順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① aws.amazon.com/certification にアクセス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② AWSアカウント（またはAWS Certificationアカウント）を作成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③「試験を予約する」→ AIF-C01 を選択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④ 受験方式を選択（オンラインまたはテストセンター）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⑤ 日時・会場を指定して支払い完了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840480"/>
            <a:ext cx="557784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93192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オンライン受験（自宅）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自宅のPC・Webカメラ・マイクが必要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Pearson VUE OnVUE ソフトをインストール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受験中は画面・周囲を監視員が監視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静かな個室環境が必須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840480"/>
            <a:ext cx="58521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393192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テストセンター受験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全国各地のピアソンVUEテストセンター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身分証明書（写真付き）2点が必要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持ち込み不可（ノートPC・メモ等）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安心して受けたい方におすすめ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推奨学習リソース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57784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AWS公式（無料）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AWS公式試験ガイド（無料PDF）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Skill Builder（公式学習プラットフォーム）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  - 「AWS Certified AI Practitioner」公式コース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  - 公式模擬試験（20問・無料）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Black Belt Online Seminar（YouTube）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AWS公式ドキュメント（Bedrock等）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325880"/>
            <a:ext cx="585216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41732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サードパーティ（有料・無料）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Tutorials Dojo：高品質模擬問題集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Whizlabs：解説が丁寧・日本語対応あり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Udemy：動画コース（セール時＄10〜）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DX/AI研究所ブログ（日本語解説）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Zenn・Qiita（合格体験記多数）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212080"/>
            <a:ext cx="11430000" cy="640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257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1" i="0">
                <a:solidFill>
                  <a:srgbClr val="232F3E"/>
                </a:solidFill>
              </a:defRPr>
            </a:pPr>
            <a:r>
              <a:t>★ まずはAWS Skill Builderの公式コース＋公式模擬試験（無料）から始めるのが最短ルート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学習ロードマップ（目安：1〜2ヶ月）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371600" cy="1005840"/>
          </a:xfrm>
          <a:prstGeom prst="rect">
            <a:avLst/>
          </a:prstGeom>
          <a:solidFill>
            <a:srgbClr val="1A5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1-2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全体把握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41732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160020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試験ガイド読了 → Skill Builderで概要動画 → 各ドメインの用語リスト作成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51760"/>
            <a:ext cx="1371600" cy="1005840"/>
          </a:xfrm>
          <a:prstGeom prst="rect">
            <a:avLst/>
          </a:prstGeom>
          <a:solidFill>
            <a:srgbClr val="0D7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3-4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インプット強化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40" y="265176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83464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ドメイン別に深掘り（特にDomain 2・3） → AWS公式ドキュメントでBedrockを重点学習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1371600" cy="1005840"/>
          </a:xfrm>
          <a:prstGeom prst="rect">
            <a:avLst/>
          </a:prstGeom>
          <a:solidFill>
            <a:srgbClr val="8B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93192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5-6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問題演習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88620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406908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Tutorials Dojoで模擬試験 → 間違えた問題の解説を精読 → 弱点ドメインを再インプット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20640"/>
            <a:ext cx="1371600" cy="10058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1663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7-8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仕上げ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512064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530352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全ドメイン模擬試験を繰り返し → 700点安定 → 本番予約・受験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2800" b="1" i="0">
                <a:solidFill>
                  <a:srgbClr val="FFFFFF"/>
                </a:solidFill>
              </a:defRPr>
            </a:pPr>
            <a:r>
              <a:t>まとめ・合格のポイント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338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Domain 3（基盤モデルの活用・28%）を最優先で攻略する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Amazon Bedrockとその関連サービスを完全に理解する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RAG vs ファインチューニングの使い分けを説明できるようにする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責任あるAIの6原則と対応AWSサービスをセットで暗記する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Tutorials Dojoなどで模擬試験を繰り返し、700点を安定させる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AWS Skill Builderの公式模擬試験（無料）は必ず受ける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800" b="1" i="0">
                <a:solidFill>
                  <a:srgbClr val="232F3E"/>
                </a:solidFill>
              </a:defRPr>
            </a:pPr>
            <a:r>
              <a:t>Foundationalレベルは基礎・概念理解が中心。コーディング不要。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600" b="0" i="0">
                <a:solidFill>
                  <a:srgbClr val="232F3E"/>
                </a:solidFill>
              </a:defRPr>
            </a:pPr>
            <a:r>
              <a:t>1〜2ヶ月の学習で十分合格可能。まずAWS Skill Builderから始めよう！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0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参考文献・公式リソース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5486400" cy="4114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b="1">
                <a:solidFill>
                  <a:srgbClr val="232F3E"/>
                </a:solidFill>
              </a:defRPr>
            </a:pPr>
            <a:r>
              <a:t>試験公式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5486400" cy="786384"/>
          </a:xfrm>
          <a:prstGeom prst="rect">
            <a:avLst/>
          </a:prstGeom>
          <a:solidFill>
            <a:srgbClr val="1A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563624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試験公式ページ</a:t>
            </a:r>
          </a:p>
          <a:p>
            <a:pPr>
              <a:defRPr sz="900" u="sng">
                <a:solidFill>
                  <a:srgbClr val="58C4FF"/>
                </a:solidFill>
              </a:defRPr>
            </a:pPr>
            <a:r>
              <a:t>https://aws.amazon.com/certification/certified-ai-practitioner/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331720"/>
            <a:ext cx="5486400" cy="786384"/>
          </a:xfrm>
          <a:prstGeom prst="rect">
            <a:avLst/>
          </a:prstGeom>
          <a:solidFill>
            <a:srgbClr val="22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2386584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試験ガイド（日本語PDF）</a:t>
            </a:r>
          </a:p>
          <a:p>
            <a:pPr>
              <a:defRPr sz="900" u="sng">
                <a:solidFill>
                  <a:srgbClr val="58C4FF"/>
                </a:solidFill>
              </a:defRPr>
            </a:pPr>
            <a:r>
              <a:t>https://d1.awsstatic.com/ja_JP/training-and-certification/docs-ai-practitioner/AWS-Certified-AI-Practitioner_Exam-Guide.pdf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154680"/>
            <a:ext cx="5486400" cy="786384"/>
          </a:xfrm>
          <a:prstGeom prst="rect">
            <a:avLst/>
          </a:prstGeom>
          <a:solidFill>
            <a:srgbClr val="1A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3209544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試験ガイド（AWS Docs）</a:t>
            </a:r>
          </a:p>
          <a:p>
            <a:pPr>
              <a:defRPr sz="900" u="sng">
                <a:solidFill>
                  <a:srgbClr val="58C4FF"/>
                </a:solidFill>
              </a:defRPr>
            </a:pPr>
            <a:r>
              <a:t>https://docs.aws.amazon.com/aws-certification/latest/examguides/ai-practitioner-01.html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977640"/>
            <a:ext cx="5486400" cy="786384"/>
          </a:xfrm>
          <a:prstGeom prst="rect">
            <a:avLst/>
          </a:prstGeom>
          <a:solidFill>
            <a:srgbClr val="22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4032504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試験予約（Pearson VUE）</a:t>
            </a:r>
          </a:p>
          <a:p>
            <a:pPr>
              <a:defRPr sz="900" u="sng">
                <a:solidFill>
                  <a:srgbClr val="58C4FF"/>
                </a:solidFill>
              </a:defRPr>
            </a:pPr>
            <a:r>
              <a:t>https://aws.amazon.com/certification/certification-prep/testing/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800600"/>
            <a:ext cx="5486400" cy="786384"/>
          </a:xfrm>
          <a:prstGeom prst="rect">
            <a:avLst/>
          </a:prstGeom>
          <a:solidFill>
            <a:srgbClr val="1A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4855464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AWS認定 FAQ</a:t>
            </a:r>
          </a:p>
          <a:p>
            <a:pPr>
              <a:defRPr sz="900" u="sng">
                <a:solidFill>
                  <a:srgbClr val="58C4FF"/>
                </a:solidFill>
              </a:defRPr>
            </a:pPr>
            <a:r>
              <a:t>https://aws.amazon.com/certification/faqs/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051560"/>
            <a:ext cx="5486400" cy="4114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078992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b="1">
                <a:solidFill>
                  <a:srgbClr val="232F3E"/>
                </a:solidFill>
              </a:defRPr>
            </a:pPr>
            <a:r>
              <a:t>学習リソース（公式）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508760"/>
            <a:ext cx="5486400" cy="786384"/>
          </a:xfrm>
          <a:prstGeom prst="rect">
            <a:avLst/>
          </a:prstGeom>
          <a:solidFill>
            <a:srgbClr val="1A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1563624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AWS Skill Builder - 試験準備コース（無料）</a:t>
            </a:r>
          </a:p>
          <a:p>
            <a:pPr>
              <a:defRPr sz="900" u="sng">
                <a:solidFill>
                  <a:srgbClr val="58C4FF"/>
                </a:solidFill>
              </a:defRPr>
            </a:pPr>
            <a:r>
              <a:t>https://skillbuilder.aws/learn/X83W99WJXA/exam-prep-standard-course-aws-certified-ai-practitioner-aif-c01/KUW4WB2K4B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331720"/>
            <a:ext cx="5486400" cy="786384"/>
          </a:xfrm>
          <a:prstGeom prst="rect">
            <a:avLst/>
          </a:prstGeom>
          <a:solidFill>
            <a:srgbClr val="22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386584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AWS Skill Builder - 公式模擬問題集（無料）</a:t>
            </a:r>
          </a:p>
          <a:p>
            <a:pPr>
              <a:defRPr sz="900" u="sng">
                <a:solidFill>
                  <a:srgbClr val="58C4FF"/>
                </a:solidFill>
              </a:defRPr>
            </a:pPr>
            <a:r>
              <a:t>https://explore.skillbuilder.aws/learn/course/19790/exam-prep-official-practice-question-set-aws-certified-ai-practitioner-aif-c01-english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154680"/>
            <a:ext cx="5486400" cy="786384"/>
          </a:xfrm>
          <a:prstGeom prst="rect">
            <a:avLst/>
          </a:prstGeom>
          <a:solidFill>
            <a:srgbClr val="1A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2" y="3209544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AWS Skill Builder - 試験準備プラン</a:t>
            </a:r>
          </a:p>
          <a:p>
            <a:pPr>
              <a:defRPr sz="900" u="sng">
                <a:solidFill>
                  <a:srgbClr val="58C4FF"/>
                </a:solidFill>
              </a:defRPr>
            </a:pPr>
            <a:r>
              <a:t>https://skillbuilder.aws/category/exam-prep/ai-practitioner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977640"/>
            <a:ext cx="5486400" cy="786384"/>
          </a:xfrm>
          <a:prstGeom prst="rect">
            <a:avLst/>
          </a:prstGeom>
          <a:solidFill>
            <a:srgbClr val="22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4032504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Amazon Bedrock 公式ドキュメント</a:t>
            </a:r>
          </a:p>
          <a:p>
            <a:pPr>
              <a:defRPr sz="900" u="sng">
                <a:solidFill>
                  <a:srgbClr val="58C4FF"/>
                </a:solidFill>
              </a:defRPr>
            </a:pPr>
            <a:r>
              <a:t>https://docs.aws.amazon.com/bedrock/latest/userguide/what-is-bedrock.html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4800600"/>
            <a:ext cx="5486400" cy="786384"/>
          </a:xfrm>
          <a:prstGeom prst="rect">
            <a:avLst/>
          </a:prstGeom>
          <a:solidFill>
            <a:srgbClr val="1A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4855464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Amazon SageMaker 公式ドキュメント</a:t>
            </a:r>
          </a:p>
          <a:p>
            <a:pPr>
              <a:defRPr sz="900" u="sng">
                <a:solidFill>
                  <a:srgbClr val="58C4FF"/>
                </a:solidFill>
              </a:defRPr>
            </a:pPr>
            <a:r>
              <a:t>https://docs.aws.amazon.com/sagemaker/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