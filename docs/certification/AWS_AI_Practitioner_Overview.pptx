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一成 本多" userId="106a17ecfda0c2b1" providerId="LiveId" clId="{799C7C9F-AE79-4430-BE4D-453A60B54C30}"/>
    <pc:docChg chg="modSld">
      <pc:chgData name="一成 本多" userId="106a17ecfda0c2b1" providerId="LiveId" clId="{799C7C9F-AE79-4430-BE4D-453A60B54C30}" dt="2026-04-29T03:58:15.239" v="1" actId="6549"/>
      <pc:docMkLst>
        <pc:docMk/>
      </pc:docMkLst>
      <pc:sldChg chg="modSp mod">
        <pc:chgData name="一成 本多" userId="106a17ecfda0c2b1" providerId="LiveId" clId="{799C7C9F-AE79-4430-BE4D-453A60B54C30}" dt="2026-04-29T03:58:15.239" v="1" actId="6549"/>
        <pc:sldMkLst>
          <pc:docMk/>
          <pc:sldMk cId="0" sldId="268"/>
        </pc:sldMkLst>
        <pc:spChg chg="mod">
          <ac:chgData name="一成 本多" userId="106a17ecfda0c2b1" providerId="LiveId" clId="{799C7C9F-AE79-4430-BE4D-453A60B54C30}" dt="2026-04-29T03:58:12.247" v="0" actId="6549"/>
          <ac:spMkLst>
            <pc:docMk/>
            <pc:sldMk cId="0" sldId="268"/>
            <ac:spMk id="7" creationId="{00000000-0000-0000-0000-000000000000}"/>
          </ac:spMkLst>
        </pc:spChg>
        <pc:spChg chg="mod">
          <ac:chgData name="一成 本多" userId="106a17ecfda0c2b1" providerId="LiveId" clId="{799C7C9F-AE79-4430-BE4D-453A60B54C30}" dt="2026-04-29T03:58:15.239" v="1" actId="6549"/>
          <ac:spMkLst>
            <pc:docMk/>
            <pc:sldMk cId="0" sldId="268"/>
            <ac:spMk id="19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846320"/>
            <a:ext cx="12188952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ctr">
              <a:defRPr sz="2800" b="0" i="0">
                <a:solidFill>
                  <a:srgbClr val="FFFFFF"/>
                </a:solidFill>
              </a:defRPr>
            </a:pPr>
            <a:r>
              <a:t>AWS Certified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ctr">
              <a:defRPr sz="4800" b="1" i="0">
                <a:solidFill>
                  <a:srgbClr val="FF9900"/>
                </a:solidFill>
              </a:defRPr>
            </a:pPr>
            <a:r>
              <a:t>AI Practitioner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ctr">
              <a:defRPr sz="2200" b="0" i="0">
                <a:solidFill>
                  <a:srgbClr val="F5F5F5"/>
                </a:solidFill>
              </a:defRPr>
            </a:pPr>
            <a:r>
              <a:t>AIF-C01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ctr">
              <a:defRPr sz="2200" b="0" i="0">
                <a:solidFill>
                  <a:srgbClr val="FFFFFF"/>
                </a:solidFill>
              </a:defRPr>
            </a:pPr>
            <a:r>
              <a:t>試験対策ガイド ─ 全体像を掴む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ctr">
              <a:defRPr sz="1600" b="0" i="0">
                <a:solidFill>
                  <a:srgbClr val="F5F5F5"/>
                </a:solidFill>
              </a:defRPr>
            </a:pPr>
            <a:r>
              <a:t>2026年版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試験概要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114300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926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600" b="1">
                <a:solidFill>
                  <a:srgbClr val="232F3E"/>
                </a:solidFill>
              </a:defRPr>
            </a:pPr>
            <a:r>
              <a:t>受験料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1417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600">
                <a:solidFill>
                  <a:srgbClr val="444444"/>
                </a:solidFill>
              </a:defRPr>
            </a:pPr>
            <a:r>
              <a:t>$100（約16,500円）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993392"/>
            <a:ext cx="11430000" cy="54864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039112"/>
            <a:ext cx="2926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600" b="1">
                <a:solidFill>
                  <a:srgbClr val="232F3E"/>
                </a:solidFill>
              </a:defRPr>
            </a:pPr>
            <a:r>
              <a:t>試験時間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03911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600">
                <a:solidFill>
                  <a:srgbClr val="444444"/>
                </a:solidFill>
              </a:defRPr>
            </a:pPr>
            <a:r>
              <a:t>90分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615184"/>
            <a:ext cx="114300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660904"/>
            <a:ext cx="2926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600" b="1">
                <a:solidFill>
                  <a:srgbClr val="232F3E"/>
                </a:solidFill>
              </a:defRPr>
            </a:pPr>
            <a:r>
              <a:t>問題数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660904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600">
                <a:solidFill>
                  <a:srgbClr val="444444"/>
                </a:solidFill>
              </a:defRPr>
            </a:pPr>
            <a:r>
              <a:t>65問（採点対象50問＋ノースコア15問）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236976"/>
            <a:ext cx="11430000" cy="54864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3282696"/>
            <a:ext cx="2926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600" b="1">
                <a:solidFill>
                  <a:srgbClr val="232F3E"/>
                </a:solidFill>
              </a:defRPr>
            </a:pPr>
            <a:r>
              <a:t>合格ライン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282696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600">
                <a:solidFill>
                  <a:srgbClr val="444444"/>
                </a:solidFill>
              </a:defRPr>
            </a:pPr>
            <a:r>
              <a:t>700点 / 1,000点満点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858768"/>
            <a:ext cx="114300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3904488"/>
            <a:ext cx="2926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600" b="1">
                <a:solidFill>
                  <a:srgbClr val="232F3E"/>
                </a:solidFill>
              </a:defRPr>
            </a:pPr>
            <a:r>
              <a:t>レベル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390448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600">
                <a:solidFill>
                  <a:srgbClr val="444444"/>
                </a:solidFill>
              </a:defRPr>
            </a:pPr>
            <a:r>
              <a:t>Foundational（最も基礎的なレベル）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480560"/>
            <a:ext cx="11430000" cy="54864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4526280"/>
            <a:ext cx="2926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600" b="1">
                <a:solidFill>
                  <a:srgbClr val="232F3E"/>
                </a:solidFill>
              </a:defRPr>
            </a:pPr>
            <a:r>
              <a:t>前提条件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45262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600">
                <a:solidFill>
                  <a:srgbClr val="444444"/>
                </a:solidFill>
              </a:defRPr>
            </a:pPr>
            <a:r>
              <a:t>なし（経験6ヶ月未満でも可）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102352"/>
            <a:ext cx="114300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5148072"/>
            <a:ext cx="2926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600" b="1">
                <a:solidFill>
                  <a:srgbClr val="232F3E"/>
                </a:solidFill>
              </a:defRPr>
            </a:pPr>
            <a:r>
              <a:t>対象者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514807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600">
                <a:solidFill>
                  <a:srgbClr val="444444"/>
                </a:solidFill>
              </a:defRPr>
            </a:pPr>
            <a:r>
              <a:t>エンジニア・非エンジニア（PM・ビジネス職）問わず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724144"/>
            <a:ext cx="11430000" cy="54864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5769864"/>
            <a:ext cx="2926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600" b="1">
                <a:solidFill>
                  <a:srgbClr val="232F3E"/>
                </a:solidFill>
              </a:defRPr>
            </a:pPr>
            <a:r>
              <a:t>出題形式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5769864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600">
                <a:solidFill>
                  <a:srgbClr val="444444"/>
                </a:solidFill>
              </a:defRPr>
            </a:pPr>
            <a:r>
              <a:t>単一選択／複数選択／順序並べ替え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出題ドメインと配点（5ドメイン）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54480"/>
            <a:ext cx="4206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500" b="1">
                <a:solidFill>
                  <a:srgbClr val="444444"/>
                </a:solidFill>
              </a:defRPr>
            </a:pPr>
            <a:r>
              <a:t>Domain 1: AI/MLの基礎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463040"/>
            <a:ext cx="6858000" cy="59436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754880" y="1463040"/>
            <a:ext cx="4898571" cy="59436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44891" y="155448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600" b="1">
                <a:solidFill>
                  <a:srgbClr val="232F3E"/>
                </a:solidFill>
              </a:defRPr>
            </a:pPr>
            <a:r>
              <a:t>20%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468880"/>
            <a:ext cx="4206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500" b="1">
                <a:solidFill>
                  <a:srgbClr val="444444"/>
                </a:solidFill>
              </a:defRPr>
            </a:pPr>
            <a:r>
              <a:t>Domain 2: 生成AIの基礎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2377440"/>
            <a:ext cx="6858000" cy="59436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754880" y="2377440"/>
            <a:ext cx="5878285" cy="594360"/>
          </a:xfrm>
          <a:prstGeom prst="rect">
            <a:avLst/>
          </a:prstGeom>
          <a:solidFill>
            <a:srgbClr val="1A5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724605" y="246888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600" b="1">
                <a:solidFill>
                  <a:srgbClr val="1A5E9A"/>
                </a:solidFill>
              </a:defRPr>
            </a:pPr>
            <a:r>
              <a:t>24%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383280"/>
            <a:ext cx="4206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500" b="1">
                <a:solidFill>
                  <a:srgbClr val="444444"/>
                </a:solidFill>
              </a:defRPr>
            </a:pPr>
            <a:r>
              <a:t>Domain 3: 基盤モデルの活用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3291840"/>
            <a:ext cx="6858000" cy="59436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754880" y="3291840"/>
            <a:ext cx="6858000" cy="594360"/>
          </a:xfrm>
          <a:prstGeom prst="rect">
            <a:avLst/>
          </a:prstGeom>
          <a:solidFill>
            <a:srgbClr val="0D7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704320" y="338328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600" b="1">
                <a:solidFill>
                  <a:srgbClr val="0D7E6E"/>
                </a:solidFill>
              </a:defRPr>
            </a:pPr>
            <a:r>
              <a:t>28%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297680"/>
            <a:ext cx="4206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500" b="1">
                <a:solidFill>
                  <a:srgbClr val="444444"/>
                </a:solidFill>
              </a:defRPr>
            </a:pPr>
            <a:r>
              <a:t>Domain 4: 責任あるAI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4206240"/>
            <a:ext cx="6858000" cy="59436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754880" y="4206240"/>
            <a:ext cx="3429000" cy="594360"/>
          </a:xfrm>
          <a:prstGeom prst="rect">
            <a:avLst/>
          </a:prstGeom>
          <a:solidFill>
            <a:srgbClr val="8B2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75320" y="429768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600" b="1">
                <a:solidFill>
                  <a:srgbClr val="8B2F00"/>
                </a:solidFill>
              </a:defRPr>
            </a:pPr>
            <a:r>
              <a:t>14%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212080"/>
            <a:ext cx="4206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500" b="1">
                <a:solidFill>
                  <a:srgbClr val="444444"/>
                </a:solidFill>
              </a:defRPr>
            </a:pPr>
            <a:r>
              <a:t>Domain 5: セキュリティ・コンプライアンス・ガバナンス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0" y="5120640"/>
            <a:ext cx="6858000" cy="59436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754880" y="5120640"/>
            <a:ext cx="3429000" cy="594360"/>
          </a:xfrm>
          <a:prstGeom prst="rect">
            <a:avLst/>
          </a:prstGeom>
          <a:solidFill>
            <a:srgbClr val="6B21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75320" y="521208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600" b="1">
                <a:solidFill>
                  <a:srgbClr val="6B216B"/>
                </a:solidFill>
              </a:defRPr>
            </a:pPr>
            <a:r>
              <a:t>14%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Domain 1：AI / ML の基礎  ─ 20%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5669280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600" b="1">
                <a:solidFill>
                  <a:srgbClr val="FF9900"/>
                </a:solidFill>
              </a:defRPr>
            </a:pPr>
            <a:r>
              <a:t>MLの基本概念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● 機械学習の種類：教師あり／なし／強化学習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● 主要アルゴリズム：回帰・分類・クラスタリング・NN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● モデル評価指標：精度・適合率・再現率・F1・RMSE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● 過学習・過少学習・バイアス・バリアンス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● データ前処理：正規化・欠損値処理・特徴量エンジニアリング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371600"/>
            <a:ext cx="5943600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35040" y="1463040"/>
            <a:ext cx="5760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600" b="1">
                <a:solidFill>
                  <a:srgbClr val="FF9900"/>
                </a:solidFill>
              </a:defRPr>
            </a:pPr>
            <a:r>
              <a:t>主要AWSサービス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● Amazon SageMaker（モデル開発・訓練・デプロイ）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● Amazon Rekognition（画像・動画認識）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● Amazon Comprehend（テキスト分析・NLP）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● Amazon Forecast（時系列予測）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● Amazon Personalize（レコメンデーション）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● Amazon Textract（OCR・ドキュメント解析）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5029200"/>
            <a:ext cx="11430000" cy="6400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50749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defRPr sz="1400" b="0" i="0">
                <a:solidFill>
                  <a:srgbClr val="FFFFFF"/>
                </a:solidFill>
              </a:defRPr>
            </a:pPr>
            <a:r>
              <a:t>★ ポイント：各アルゴリズムの「どんな問題に使うか」を整理すると得点しやすい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Domain 2：生成AI の基礎  ─ 24%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5669280" cy="402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600" b="1">
                <a:solidFill>
                  <a:srgbClr val="FF9900"/>
                </a:solidFill>
              </a:defRPr>
            </a:pPr>
            <a:r>
              <a:t>生成AI基本概念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● 大規模言語モデル（LLM）の仕組み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● Transformer・アテンション機構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● トークン・コンテキストウィンドウ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● プロンプトエンジニアリング（Zero-shot / Few-shot）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● ファインチューニング vs RAG（検索拡張生成）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● ハルシネーション（幻覚）とその対策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● 拡散モデル・GANによる画像生成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371600"/>
            <a:ext cx="5943600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35040" y="1463040"/>
            <a:ext cx="5760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600" b="1">
                <a:solidFill>
                  <a:srgbClr val="FF9900"/>
                </a:solidFill>
              </a:defRPr>
            </a:pPr>
            <a:r>
              <a:t>主要AWSサービス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● Amazon Bedrock（基盤モデルAPIサービス）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● Amazon Titan（AWS独自モデル群）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● Anthropic Claude / Meta Llama（Bedrock経由）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● Amazon Q（ビジネス向けAIアシスタント）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● Amazon CodeWhisperer（コード補完）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● Stable Diffusion（画像生成）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5577840"/>
            <a:ext cx="11430000" cy="6400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56235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defRPr sz="1400" b="0" i="0">
                <a:solidFill>
                  <a:srgbClr val="FFFFFF"/>
                </a:solidFill>
              </a:defRPr>
            </a:pPr>
            <a:r>
              <a:t>★ ポイント：RAGとファインチューニングの使い分け・Bedrockの役割を押さえる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Domain 3：基盤モデルの活用  ─ 28%（最重要）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5669280" cy="402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600" b="1">
                <a:solidFill>
                  <a:srgbClr val="FF9900"/>
                </a:solidFill>
              </a:defRPr>
            </a:pPr>
            <a:r>
              <a:t>活用パターンと概念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● Foundation Model（FM）の選び方・評価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● モデルカスタマイズ：Fine-tuning / Continued Pre-training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● RAG（Retrieval-Augmented Generation）構築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● ベクトルデータベースの活用（埋め込みベクトル）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● エージェント型AI・ツール使用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● モデル評価：BLEU・ROUGE・人間評価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● コスト最適化（モデル選択・推論コスト）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371600"/>
            <a:ext cx="5943600" cy="402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35040" y="1463040"/>
            <a:ext cx="5760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600" b="1">
                <a:solidFill>
                  <a:srgbClr val="FF9900"/>
                </a:solidFill>
              </a:defRPr>
            </a:pPr>
            <a:r>
              <a:t>主要AWSサービス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● Amazon Bedrock（FMのAPI呼び出し・管理）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● Bedrock Knowledge Bases（RAG構築）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● Bedrock Agents（エージェント構築）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● Bedrock Guardrails（安全フィルタ）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● Amazon OpenSearch（ベクトル検索）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● Amazon Kendra（エンタープライズ検索）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● AWS Lambda（推論エンドポイント連携）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5577840"/>
            <a:ext cx="11430000" cy="6400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56235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defRPr sz="1400" b="1" i="0">
                <a:solidFill>
                  <a:srgbClr val="232F3E"/>
                </a:solidFill>
              </a:defRPr>
            </a:pPr>
            <a:r>
              <a:t>★★ 最重要ドメイン（28%）！ Bedrock関連サービスを完全に理解すること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Domain 4：責任ある AI  ─ 14%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5669280" cy="402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600" b="1">
                <a:solidFill>
                  <a:srgbClr val="FF9900"/>
                </a:solidFill>
              </a:defRPr>
            </a:pPr>
            <a:r>
              <a:t>責任あるAIの6原則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● 公平性（Fairness）：バイアスの特定と軽減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● 透明性（Transparency）：意思決定の説明可能性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● 説明可能性（Explainability）：XAI手法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● プライバシー保護：データ匿名化・差分プライバシー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● 堅牢性（Robustness）：敵対的攻撃への耐性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● ヒューマン・イン・ザ・ループ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● AIガバナンスフレームワーク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371600"/>
            <a:ext cx="594360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35040" y="1463040"/>
            <a:ext cx="5760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600" b="1">
                <a:solidFill>
                  <a:srgbClr val="FF9900"/>
                </a:solidFill>
              </a:defRPr>
            </a:pPr>
            <a:r>
              <a:t>主要AWSサービス・ツール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● Amazon SageMaker Clarify（バイアス検出）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● Amazon SageMaker Model Monitor（モデル監視）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● Bedrock Guardrails（有害コンテンツフィルタ）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● AWS AI Service Cards（透明性ドキュメント）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● AWS Responsible AI Policy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4297680"/>
            <a:ext cx="59436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35040" y="4389120"/>
            <a:ext cx="5760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600" b="1">
                <a:solidFill>
                  <a:srgbClr val="FF9900"/>
                </a:solidFill>
              </a:defRPr>
            </a:pPr>
            <a:r>
              <a:t>ベストプラクティス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● モデルカードの作成・公開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● バイアス監査の定期実施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● ステークホルダーへの説明責任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5577840"/>
            <a:ext cx="11430000" cy="6400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56235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defRPr sz="1400" b="0" i="0">
                <a:solidFill>
                  <a:srgbClr val="FFFFFF"/>
                </a:solidFill>
              </a:defRPr>
            </a:pPr>
            <a:r>
              <a:t>★ ポイント：各原則の定義と、それに対応するAWSサービスをセットで覚える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Domain 5：セキュリティ・コンプライアンス・ガバナンス  ─ 14%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3840480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600" b="1">
                <a:solidFill>
                  <a:srgbClr val="FF9900"/>
                </a:solidFill>
              </a:defRPr>
            </a:pPr>
            <a:r>
              <a:t>セキュリティ基礎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● IAM（最小権限の原則・ロールベースアクセス）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● データ暗号化（保存時・転送時）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● VPC・プライベートエンドポイント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● 監査ログ・CloudTrail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● インシデント対応・脅威検出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1371600"/>
            <a:ext cx="3840480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06240" y="146304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600" b="1">
                <a:solidFill>
                  <a:srgbClr val="FF9900"/>
                </a:solidFill>
              </a:defRPr>
            </a:pPr>
            <a:r>
              <a:t>コンプライアンス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● GDPR・HIPAA・SOC 2・ISO 27001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● データ主権・残留規制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● AWS Artifact（コンプライアンスレポート）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● AWS Config（設定コンプライアンス）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● AWS Audit Manager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1371600"/>
            <a:ext cx="3840480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0" y="146304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600" b="1">
                <a:solidFill>
                  <a:srgbClr val="FF9900"/>
                </a:solidFill>
              </a:defRPr>
            </a:pPr>
            <a:r>
              <a:t>ガバナンス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● AIガバナンスポリシーの策定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● モデルライフサイクル管理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● リスクアセスメント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● AWS Organizations・SCP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● AWS Well-Architected Framework（ML Lens）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937760"/>
            <a:ext cx="11430000" cy="6400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4983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defRPr sz="1400" b="0" i="0">
                <a:solidFill>
                  <a:srgbClr val="FFFFFF"/>
                </a:solidFill>
              </a:defRPr>
            </a:pPr>
            <a:r>
              <a:t>★ ポイント：AWSの共有責任モデル（お客様 vs AWS）のAI文脈での理解が重要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受験方法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25880"/>
            <a:ext cx="1161288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11430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600" b="1">
                <a:solidFill>
                  <a:srgbClr val="FF9900"/>
                </a:solidFill>
              </a:defRPr>
            </a:pPr>
            <a:r>
              <a:t>申込手順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① aws.amazon.com/certification にアクセス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② AWSアカウント（またはAWS Certificationアカウント）を作成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③「試験を予約する」→ AIF-C01 を選択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④ 受験方式を選択（オンラインまたはテストセンター）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⑤ 日時・会場を指定して支払い完了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3840480"/>
            <a:ext cx="557784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3931920"/>
            <a:ext cx="5394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600" b="1">
                <a:solidFill>
                  <a:srgbClr val="FF9900"/>
                </a:solidFill>
              </a:defRPr>
            </a:pPr>
            <a:r>
              <a:t>オンライン受験（自宅）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● 自宅のPC・Webカメラ・マイクが必要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● Pearson VUE OnVUE ソフトをインストール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● 受験中は画面・周囲を監視員が監視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● 静かな個室環境が必須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3840480"/>
            <a:ext cx="585216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26480" y="3931920"/>
            <a:ext cx="5669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600" b="1">
                <a:solidFill>
                  <a:srgbClr val="FF9900"/>
                </a:solidFill>
              </a:defRPr>
            </a:pPr>
            <a:r>
              <a:t>テストセンター受験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● 全国各地のピアソンVUEテストセンター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● 身分証明書（写真付き）2点が必要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● 持ち込み不可（ノートPC・メモ等）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● 安心して受けたい方におすすめ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推奨学習リソース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25880"/>
            <a:ext cx="55778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5394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600" b="1">
                <a:solidFill>
                  <a:srgbClr val="FF9900"/>
                </a:solidFill>
              </a:defRPr>
            </a:pPr>
            <a:r>
              <a:t>AWS公式（無料）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● AWS公式試験ガイド（無料PDF）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● AWS Skill Builder（公式学習プラットフォーム）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  - 「AWS Certified AI Practitioner」公式コース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  - 公式模擬試験（20問・無料）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● AWS Black Belt Online Seminar（YouTube）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● AWS公式ドキュメント（Bedrock等）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325880"/>
            <a:ext cx="585216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26480" y="1417320"/>
            <a:ext cx="5669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600" b="1">
                <a:solidFill>
                  <a:srgbClr val="FF9900"/>
                </a:solidFill>
              </a:defRPr>
            </a:pPr>
            <a:r>
              <a:t>サードパーティ（有料・無料）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● Tutorials Dojo：高品質模擬問題集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● Whizlabs：解説が丁寧・日本語対応あり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● Udemy：動画コース（セール時＄10〜）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● DX/AI研究所ブログ（日本語解説）</a:t>
            </a:r>
          </a:p>
          <a:p>
            <a:pPr>
              <a:spcBef>
                <a:spcPts val="200"/>
              </a:spcBef>
              <a:defRPr sz="1500">
                <a:solidFill>
                  <a:srgbClr val="444444"/>
                </a:solidFill>
              </a:defRPr>
            </a:pPr>
            <a:r>
              <a:t>● Zenn・Qiita（合格体験記多数）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5212080"/>
            <a:ext cx="11430000" cy="6400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52578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defRPr sz="1400" b="1" i="0">
                <a:solidFill>
                  <a:srgbClr val="232F3E"/>
                </a:solidFill>
              </a:defRPr>
            </a:pPr>
            <a:r>
              <a:t>★ まずはAWS Skill Builderの公式コース＋公式模擬試験（無料）から始めるのが最短ルート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学習ロードマップ（目安：1〜2ヶ月）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1371600" cy="1005840"/>
          </a:xfrm>
          <a:prstGeom prst="rect">
            <a:avLst/>
          </a:prstGeom>
          <a:solidFill>
            <a:srgbClr val="1A5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ctr">
              <a:defRPr sz="1300" b="1">
                <a:solidFill>
                  <a:srgbClr val="FFFFFF"/>
                </a:solidFill>
              </a:defRPr>
            </a:pPr>
            <a:r>
              <a:t>Week 1-2</a:t>
            </a:r>
          </a:p>
          <a:p>
            <a:pPr algn="ctr">
              <a:defRPr sz="1200">
                <a:solidFill>
                  <a:srgbClr val="FF9900"/>
                </a:solidFill>
              </a:defRPr>
            </a:pPr>
            <a:r>
              <a:t>全体把握</a:t>
            </a:r>
          </a:p>
        </p:txBody>
      </p:sp>
      <p:sp>
        <p:nvSpPr>
          <p:cNvPr id="7" name="Rectangle 6"/>
          <p:cNvSpPr/>
          <p:nvPr/>
        </p:nvSpPr>
        <p:spPr>
          <a:xfrm>
            <a:off x="1920240" y="1417320"/>
            <a:ext cx="100584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11680" y="160020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400">
                <a:solidFill>
                  <a:srgbClr val="444444"/>
                </a:solidFill>
              </a:defRPr>
            </a:pPr>
            <a:r>
              <a:t>試験ガイド読了 → Skill Builderで概要動画 → 各ドメインの用語リスト作成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651760"/>
            <a:ext cx="1371600" cy="1005840"/>
          </a:xfrm>
          <a:prstGeom prst="rect">
            <a:avLst/>
          </a:prstGeom>
          <a:solidFill>
            <a:srgbClr val="0D7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269748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ctr">
              <a:defRPr sz="1300" b="1">
                <a:solidFill>
                  <a:srgbClr val="FFFFFF"/>
                </a:solidFill>
              </a:defRPr>
            </a:pPr>
            <a:r>
              <a:t>Week 3-4</a:t>
            </a:r>
          </a:p>
          <a:p>
            <a:pPr algn="ctr">
              <a:defRPr sz="1200">
                <a:solidFill>
                  <a:srgbClr val="FF9900"/>
                </a:solidFill>
              </a:defRPr>
            </a:pPr>
            <a:r>
              <a:t>インプット強化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20240" y="2651760"/>
            <a:ext cx="100584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11680" y="283464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400">
                <a:solidFill>
                  <a:srgbClr val="444444"/>
                </a:solidFill>
              </a:defRPr>
            </a:pPr>
            <a:r>
              <a:t>ドメイン別に深掘り（特にDomain 2・3） → AWS公式ドキュメントでBedrockを重点学習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886200"/>
            <a:ext cx="1371600" cy="1005840"/>
          </a:xfrm>
          <a:prstGeom prst="rect">
            <a:avLst/>
          </a:prstGeom>
          <a:solidFill>
            <a:srgbClr val="8B2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393192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ctr">
              <a:defRPr sz="1300" b="1">
                <a:solidFill>
                  <a:srgbClr val="FFFFFF"/>
                </a:solidFill>
              </a:defRPr>
            </a:pPr>
            <a:r>
              <a:t>Week 5-6</a:t>
            </a:r>
          </a:p>
          <a:p>
            <a:pPr algn="ctr">
              <a:defRPr sz="1200">
                <a:solidFill>
                  <a:srgbClr val="FF9900"/>
                </a:solidFill>
              </a:defRPr>
            </a:pPr>
            <a:r>
              <a:t>問題演習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20240" y="3886200"/>
            <a:ext cx="100584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011680" y="406908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400">
                <a:solidFill>
                  <a:srgbClr val="444444"/>
                </a:solidFill>
              </a:defRPr>
            </a:pPr>
            <a:r>
              <a:t>Tutorials Dojoで模擬試験 → 間違えた問題の解説を精読 → 弱点ドメインを再インプット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120640"/>
            <a:ext cx="1371600" cy="100584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516636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ctr">
              <a:defRPr sz="1300" b="1">
                <a:solidFill>
                  <a:srgbClr val="FFFFFF"/>
                </a:solidFill>
              </a:defRPr>
            </a:pPr>
            <a:r>
              <a:t>Week 7-8</a:t>
            </a:r>
          </a:p>
          <a:p>
            <a:pPr algn="ctr">
              <a:defRPr sz="1200">
                <a:solidFill>
                  <a:srgbClr val="FF9900"/>
                </a:solidFill>
              </a:defRPr>
            </a:pPr>
            <a:r>
              <a:t>仕上げ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20240" y="5120640"/>
            <a:ext cx="100584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011680" y="530352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400">
                <a:solidFill>
                  <a:srgbClr val="444444"/>
                </a:solidFill>
              </a:defRPr>
            </a:pPr>
            <a:r>
              <a:t>全ドメイン模擬試験を繰り返し → 700点安定 → 本番予約・受験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defRPr sz="2800" b="1" i="0">
                <a:solidFill>
                  <a:srgbClr val="FFFFFF"/>
                </a:solidFill>
              </a:defRPr>
            </a:pPr>
            <a:r>
              <a:t>まとめ・合格のポイント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338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200"/>
              </a:spcBef>
              <a:defRPr sz="1600">
                <a:solidFill>
                  <a:srgbClr val="FFFFFF"/>
                </a:solidFill>
              </a:defRPr>
            </a:pPr>
            <a:r>
              <a:t>✅  Domain 3（基盤モデルの活用・28%）を最優先で攻略する</a:t>
            </a:r>
          </a:p>
          <a:p>
            <a:pPr>
              <a:spcBef>
                <a:spcPts val="200"/>
              </a:spcBef>
              <a:defRPr sz="1600">
                <a:solidFill>
                  <a:srgbClr val="FFFFFF"/>
                </a:solidFill>
              </a:defRPr>
            </a:pPr>
            <a:r>
              <a:t>✅  Amazon Bedrockとその関連サービスを完全に理解する</a:t>
            </a:r>
          </a:p>
          <a:p>
            <a:pPr>
              <a:spcBef>
                <a:spcPts val="200"/>
              </a:spcBef>
              <a:defRPr sz="1600">
                <a:solidFill>
                  <a:srgbClr val="FFFFFF"/>
                </a:solidFill>
              </a:defRPr>
            </a:pPr>
            <a:r>
              <a:t>✅  RAG vs ファインチューニングの使い分けを説明できるようにする</a:t>
            </a:r>
          </a:p>
          <a:p>
            <a:pPr>
              <a:spcBef>
                <a:spcPts val="200"/>
              </a:spcBef>
              <a:defRPr sz="1600">
                <a:solidFill>
                  <a:srgbClr val="FFFFFF"/>
                </a:solidFill>
              </a:defRPr>
            </a:pPr>
            <a:r>
              <a:t>✅  責任あるAIの6原則と対応AWSサービスをセットで暗記する</a:t>
            </a:r>
          </a:p>
          <a:p>
            <a:pPr>
              <a:spcBef>
                <a:spcPts val="200"/>
              </a:spcBef>
              <a:defRPr sz="1600">
                <a:solidFill>
                  <a:srgbClr val="FFFFFF"/>
                </a:solidFill>
              </a:defRPr>
            </a:pPr>
            <a:r>
              <a:t>✅  Tutorials Dojoなどで模擬試験を繰り返し、700点を安定させる</a:t>
            </a:r>
          </a:p>
          <a:p>
            <a:pPr>
              <a:spcBef>
                <a:spcPts val="200"/>
              </a:spcBef>
              <a:defRPr sz="1600">
                <a:solidFill>
                  <a:srgbClr val="FFFFFF"/>
                </a:solidFill>
              </a:defRPr>
            </a:pPr>
            <a:r>
              <a:t>✅  AWS Skill Builderの公式模擬試験（無料）は必ず受ける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53949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ctr">
              <a:defRPr sz="1800" b="1" i="0">
                <a:solidFill>
                  <a:srgbClr val="232F3E"/>
                </a:solidFill>
              </a:defRPr>
            </a:pPr>
            <a:r>
              <a:t>Foundationalレベルは基礎・概念理解が中心。コーディング不要。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ctr">
              <a:defRPr sz="1600" b="0" i="0">
                <a:solidFill>
                  <a:srgbClr val="232F3E"/>
                </a:solidFill>
              </a:defRPr>
            </a:pPr>
            <a:r>
              <a:t>1〜2ヶ月の学習で十分合格可能。まずAWS Skill Builderから始めよう！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0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defRPr sz="2600" b="1" i="0">
                <a:solidFill>
                  <a:srgbClr val="FFFFFF"/>
                </a:solidFill>
              </a:defRPr>
            </a:pPr>
            <a:r>
              <a:t>参考文献・公式リソース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5486400" cy="4114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078992"/>
            <a:ext cx="90281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32F3E"/>
                </a:solidFill>
              </a:defRPr>
            </a:pPr>
            <a:r>
              <a:rPr dirty="0" err="1"/>
              <a:t>試験公式</a:t>
            </a:r>
            <a:endParaRPr dirty="0"/>
          </a:p>
        </p:txBody>
      </p:sp>
      <p:sp>
        <p:nvSpPr>
          <p:cNvPr id="8" name="Rectangle 7"/>
          <p:cNvSpPr/>
          <p:nvPr/>
        </p:nvSpPr>
        <p:spPr>
          <a:xfrm>
            <a:off x="320040" y="1508760"/>
            <a:ext cx="5486400" cy="786384"/>
          </a:xfrm>
          <a:prstGeom prst="rect">
            <a:avLst/>
          </a:prstGeom>
          <a:solidFill>
            <a:srgbClr val="1A2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4632" y="1563624"/>
            <a:ext cx="5257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試験公式ページ</a:t>
            </a:r>
          </a:p>
          <a:p>
            <a:pPr>
              <a:defRPr sz="900" u="sng">
                <a:solidFill>
                  <a:srgbClr val="58C4FF"/>
                </a:solidFill>
              </a:defRPr>
            </a:pPr>
            <a:r>
              <a:t>https://aws.amazon.com/certification/certified-ai-practitioner/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331720"/>
            <a:ext cx="5486400" cy="786384"/>
          </a:xfrm>
          <a:prstGeom prst="rect">
            <a:avLst/>
          </a:prstGeom>
          <a:solidFill>
            <a:srgbClr val="22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4632" y="2386584"/>
            <a:ext cx="5257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試験ガイド（日本語PDF）</a:t>
            </a:r>
          </a:p>
          <a:p>
            <a:pPr>
              <a:defRPr sz="900" u="sng">
                <a:solidFill>
                  <a:srgbClr val="58C4FF"/>
                </a:solidFill>
              </a:defRPr>
            </a:pPr>
            <a:r>
              <a:t>https://d1.awsstatic.com/ja_JP/training-and-certification/docs-ai-practitioner/AWS-Certified-AI-Practitioner_Exam-Guide.pdf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154680"/>
            <a:ext cx="5486400" cy="786384"/>
          </a:xfrm>
          <a:prstGeom prst="rect">
            <a:avLst/>
          </a:prstGeom>
          <a:solidFill>
            <a:srgbClr val="1A2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4632" y="3209544"/>
            <a:ext cx="5257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試験ガイド（AWS Docs）</a:t>
            </a:r>
          </a:p>
          <a:p>
            <a:pPr>
              <a:defRPr sz="900" u="sng">
                <a:solidFill>
                  <a:srgbClr val="58C4FF"/>
                </a:solidFill>
              </a:defRPr>
            </a:pPr>
            <a:r>
              <a:t>https://docs.aws.amazon.com/aws-certification/latest/examguides/ai-practitioner-01.html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977640"/>
            <a:ext cx="5486400" cy="786384"/>
          </a:xfrm>
          <a:prstGeom prst="rect">
            <a:avLst/>
          </a:prstGeom>
          <a:solidFill>
            <a:srgbClr val="22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4632" y="4032504"/>
            <a:ext cx="5257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試験予約（Pearson VUE）</a:t>
            </a:r>
          </a:p>
          <a:p>
            <a:pPr>
              <a:defRPr sz="900" u="sng">
                <a:solidFill>
                  <a:srgbClr val="58C4FF"/>
                </a:solidFill>
              </a:defRPr>
            </a:pPr>
            <a:r>
              <a:t>https://aws.amazon.com/certification/certification-prep/testing/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800600"/>
            <a:ext cx="5486400" cy="786384"/>
          </a:xfrm>
          <a:prstGeom prst="rect">
            <a:avLst/>
          </a:prstGeom>
          <a:solidFill>
            <a:srgbClr val="1A2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4632" y="4855464"/>
            <a:ext cx="5257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AWS認定 FAQ</a:t>
            </a:r>
          </a:p>
          <a:p>
            <a:pPr>
              <a:defRPr sz="900" u="sng">
                <a:solidFill>
                  <a:srgbClr val="58C4FF"/>
                </a:solidFill>
              </a:defRPr>
            </a:pPr>
            <a:r>
              <a:t>https://aws.amazon.com/certification/faqs/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1051560"/>
            <a:ext cx="5486400" cy="4114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1078992"/>
            <a:ext cx="198002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32F3E"/>
                </a:solidFill>
              </a:defRPr>
            </a:pPr>
            <a:r>
              <a:rPr dirty="0" err="1"/>
              <a:t>学習リソース（公式</a:t>
            </a:r>
            <a:r>
              <a:rPr dirty="0"/>
              <a:t>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1508760"/>
            <a:ext cx="5486400" cy="786384"/>
          </a:xfrm>
          <a:prstGeom prst="rect">
            <a:avLst/>
          </a:prstGeom>
          <a:solidFill>
            <a:srgbClr val="1A2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28232" y="1563624"/>
            <a:ext cx="5257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AWS Skill Builder - 試験準備コース（無料）</a:t>
            </a:r>
          </a:p>
          <a:p>
            <a:pPr>
              <a:defRPr sz="900" u="sng">
                <a:solidFill>
                  <a:srgbClr val="58C4FF"/>
                </a:solidFill>
              </a:defRPr>
            </a:pPr>
            <a:r>
              <a:t>https://skillbuilder.aws/learn/X83W99WJXA/exam-prep-standard-course-aws-certified-ai-practitioner-aif-c01/KUW4WB2K4B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2331720"/>
            <a:ext cx="5486400" cy="786384"/>
          </a:xfrm>
          <a:prstGeom prst="rect">
            <a:avLst/>
          </a:prstGeom>
          <a:solidFill>
            <a:srgbClr val="22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28232" y="2386584"/>
            <a:ext cx="5257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AWS Skill Builder - 公式模擬問題集（無料）</a:t>
            </a:r>
          </a:p>
          <a:p>
            <a:pPr>
              <a:defRPr sz="900" u="sng">
                <a:solidFill>
                  <a:srgbClr val="58C4FF"/>
                </a:solidFill>
              </a:defRPr>
            </a:pPr>
            <a:r>
              <a:t>https://explore.skillbuilder.aws/learn/course/19790/exam-prep-official-practice-question-set-aws-certified-ai-practitioner-aif-c01-english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3154680"/>
            <a:ext cx="5486400" cy="786384"/>
          </a:xfrm>
          <a:prstGeom prst="rect">
            <a:avLst/>
          </a:prstGeom>
          <a:solidFill>
            <a:srgbClr val="1A2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28232" y="3209544"/>
            <a:ext cx="5257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AWS Skill Builder - 試験準備プラン</a:t>
            </a:r>
          </a:p>
          <a:p>
            <a:pPr>
              <a:defRPr sz="900" u="sng">
                <a:solidFill>
                  <a:srgbClr val="58C4FF"/>
                </a:solidFill>
              </a:defRPr>
            </a:pPr>
            <a:r>
              <a:t>https://skillbuilder.aws/category/exam-prep/ai-practitioner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3977640"/>
            <a:ext cx="5486400" cy="786384"/>
          </a:xfrm>
          <a:prstGeom prst="rect">
            <a:avLst/>
          </a:prstGeom>
          <a:solidFill>
            <a:srgbClr val="22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28232" y="4032504"/>
            <a:ext cx="5257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Amazon Bedrock 公式ドキュメント</a:t>
            </a:r>
          </a:p>
          <a:p>
            <a:pPr>
              <a:defRPr sz="900" u="sng">
                <a:solidFill>
                  <a:srgbClr val="58C4FF"/>
                </a:solidFill>
              </a:defRPr>
            </a:pPr>
            <a:r>
              <a:t>https://docs.aws.amazon.com/bedrock/latest/userguide/what-is-bedrock.html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4800600"/>
            <a:ext cx="5486400" cy="786384"/>
          </a:xfrm>
          <a:prstGeom prst="rect">
            <a:avLst/>
          </a:prstGeom>
          <a:solidFill>
            <a:srgbClr val="1A2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28232" y="4855464"/>
            <a:ext cx="5257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Amazon SageMaker 公式ドキュメント</a:t>
            </a:r>
          </a:p>
          <a:p>
            <a:pPr>
              <a:defRPr sz="900" u="sng">
                <a:solidFill>
                  <a:srgbClr val="58C4FF"/>
                </a:solidFill>
              </a:defRPr>
            </a:pPr>
            <a:r>
              <a:t>https://docs.aws.amazon.com/sagemaker/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1169</Words>
  <Application>Microsoft Office PowerPoint</Application>
  <PresentationFormat>ユーザー設定</PresentationFormat>
  <Paragraphs>277</Paragraphs>
  <Slides>13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一成 本多</cp:lastModifiedBy>
  <cp:revision>1</cp:revision>
  <dcterms:created xsi:type="dcterms:W3CDTF">2013-01-27T09:14:16Z</dcterms:created>
  <dcterms:modified xsi:type="dcterms:W3CDTF">2026-04-29T03:58:20Z</dcterms:modified>
  <cp:category/>
</cp:coreProperties>
</file>